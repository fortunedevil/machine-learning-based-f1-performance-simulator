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docProps/app.xml" ContentType="application/vnd.openxmlformats-officedocument.extended-properties+xml"/>
  <Override PartName="/docProps/core.xml" ContentType="application/vnd.openxmlformats-package.core-properties+xml"/>
  <Override PartName="/ppt/charts/chart1.xml" ContentType="application/vnd.openxmlformats-officedocument.drawingml.chart+xml"/>
  <Override PartName="/ppt/charts/chart2.xml" ContentType="application/vnd.openxmlformats-officedocument.drawingml.chart+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Sheet1.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Sheet2.xlsx"/></Relationships>
</file>

<file path=ppt/charts/chart1.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bar"/>
        <c:grouping val="clustered"/>
        <c:ser>
          <c:idx val="0"/>
          <c:order val="0"/>
          <c:tx>
            <c:strRef>
              <c:f>Sheet1!$B$1</c:f>
              <c:strCache>
                <c:ptCount val="1"/>
                <c:pt idx="0">
                  <c:v>Validation RMSE</c:v>
                </c:pt>
              </c:strCache>
            </c:strRef>
          </c:tx>
          <c:dPt>
            <c:idx val="0"/>
            <c:spPr>
              <a:solidFill>
                <a:srgbClr val="B4B9C0"/>
              </a:solidFill>
            </c:spPr>
          </c:dPt>
          <c:dPt>
            <c:idx val="1"/>
            <c:spPr>
              <a:solidFill>
                <a:srgbClr val="B4B9C0"/>
              </a:solidFill>
            </c:spPr>
          </c:dPt>
          <c:dPt>
            <c:idx val="2"/>
            <c:spPr>
              <a:solidFill>
                <a:srgbClr val="B4B9C0"/>
              </a:solidFill>
            </c:spPr>
          </c:dPt>
          <c:dPt>
            <c:idx val="3"/>
            <c:spPr>
              <a:solidFill>
                <a:srgbClr val="B4B9C0"/>
              </a:solidFill>
            </c:spPr>
          </c:dPt>
          <c:dPt>
            <c:idx val="4"/>
            <c:spPr>
              <a:solidFill>
                <a:srgbClr val="B4B9C0"/>
              </a:solidFill>
            </c:spPr>
          </c:dPt>
          <c:dPt>
            <c:idx val="5"/>
            <c:spPr>
              <a:solidFill>
                <a:srgbClr val="E10600"/>
              </a:solidFill>
            </c:spPr>
          </c:dPt>
          <c:cat>
            <c:strRef>
              <c:f>Sheet1!$A$2:$A$7</c:f>
              <c:strCache>
                <c:ptCount val="6"/>
                <c:pt idx="0">
                  <c:v>No change from baseline</c:v>
                </c:pt>
                <c:pt idx="1">
                  <c:v>Mean change</c:v>
                </c:pt>
                <c:pt idx="2">
                  <c:v>Linear, wear per compound</c:v>
                </c:pt>
                <c:pt idx="3">
                  <c:v>Linear regression</c:v>
                </c:pt>
                <c:pt idx="4">
                  <c:v>Gradient boosting (monotonic tyre wear)</c:v>
                </c:pt>
                <c:pt idx="5">
                  <c:v>Gradient boosting</c:v>
                </c:pt>
              </c:strCache>
            </c:strRef>
          </c:cat>
          <c:val>
            <c:numRef>
              <c:f>Sheet1!$B$2:$B$7</c:f>
              <c:numCache>
                <c:formatCode>General</c:formatCode>
                <c:ptCount val="6"/>
                <c:pt idx="0">
                  <c:v>1.55</c:v>
                </c:pt>
                <c:pt idx="1">
                  <c:v>1.084</c:v>
                </c:pt>
                <c:pt idx="2">
                  <c:v>0.828</c:v>
                </c:pt>
                <c:pt idx="3">
                  <c:v>0.822</c:v>
                </c:pt>
                <c:pt idx="4">
                  <c:v>0.803</c:v>
                </c:pt>
                <c:pt idx="5">
                  <c:v>0.798</c:v>
                </c:pt>
              </c:numCache>
            </c:numRef>
          </c:val>
        </c:ser>
        <c:dLbls>
          <c:numFmt formatCode="0.00&quot; s&quot;" sourceLinked="0"/>
          <c:txPr>
            <a:bodyPr/>
            <a:lstStyle/>
            <a:p>
              <a:pPr>
                <a:defRPr sz="1200">
                  <a:solidFill>
                    <a:srgbClr val="1E2226"/>
                  </a:solidFill>
                  <a:latin typeface="Calibri"/>
                </a:defRPr>
              </a:pPr>
            </a:p>
          </c:txPr>
          <c:dLblPos val="outEnd"/>
          <c:showLegendKey val="0"/>
          <c:showVal val="1"/>
          <c:showCatName val="0"/>
          <c:showSerName val="0"/>
          <c:showPercent val="0"/>
          <c:showBubbleSize val="0"/>
          <c:showLeaderLines val="1"/>
        </c:dLbls>
        <c:gapWidth val="55"/>
        <c:axId val="-2068027336"/>
        <c:axId val="-2113994440"/>
      </c:barChart>
      <c:catAx>
        <c:axId val="-2068027336"/>
        <c:scaling>
          <c:orientation val="minMax"/>
        </c:scaling>
        <c:delete val="0"/>
        <c:axPos val="l"/>
        <c:majorTickMark val="out"/>
        <c:minorTickMark val="none"/>
        <c:tickLblPos val="nextTo"/>
        <c:spPr>
          <a:ln>
            <a:solidFill>
              <a:srgbClr val="B4B9C0"/>
            </a:solidFill>
          </a:ln>
        </c:spPr>
        <c:txPr>
          <a:bodyPr/>
          <a:lstStyle/>
          <a:p>
            <a:pPr>
              <a:defRPr sz="1200">
                <a:solidFill>
                  <a:srgbClr val="1E2226"/>
                </a:solidFill>
              </a:defRPr>
            </a:pPr>
          </a:p>
        </c:txPr>
        <c:crossAx val="-2113994440"/>
        <c:crosses val="autoZero"/>
        <c:auto val="1"/>
        <c:lblAlgn val="ctr"/>
        <c:lblOffset val="100"/>
        <c:noMultiLvlLbl val="0"/>
      </c:catAx>
      <c:valAx>
        <c:axId val="-2113994440"/>
        <c:scaling>
          <c:min val="0.0"/>
        </c:scaling>
        <c:delete/>
        <c:axPos val="b"/>
        <c:majorTickMark val="out"/>
        <c:minorTickMark val="none"/>
        <c:tickLblPos val="nextTo"/>
        <c:crossAx val="-2068027336"/>
        <c:crosses val="autoZero"/>
      </c:valAx>
    </c:plotArea>
    <c:dispBlanksAs val="gap"/>
  </c:chart>
  <c:txPr>
    <a:bodyPr/>
    <a:lstStyle/>
    <a:p>
      <a:pPr>
        <a:defRPr sz="1200">
          <a:solidFill>
            <a:srgbClr val="5B6168"/>
          </a:solidFill>
          <a:latin typeface="Calibri"/>
        </a:defRPr>
      </a:pPr>
      <a:endParaRPr lang="en-US"/>
    </a:p>
  </c:tx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clustered"/>
        <c:ser>
          <c:idx val="0"/>
          <c:order val="0"/>
          <c:tx>
            <c:strRef>
              <c:f>Sheet1!$B$1</c:f>
              <c:strCache>
                <c:ptCount val="1"/>
                <c:pt idx="0">
                  <c:v>Race-time MAE</c:v>
                </c:pt>
              </c:strCache>
            </c:strRef>
          </c:tx>
          <c:dPt>
            <c:idx val="0"/>
            <c:spPr>
              <a:solidFill>
                <a:srgbClr val="B4B9C0"/>
              </a:solidFill>
            </c:spPr>
          </c:dPt>
          <c:dPt>
            <c:idx val="1"/>
            <c:spPr>
              <a:solidFill>
                <a:srgbClr val="E10600"/>
              </a:solidFill>
            </c:spPr>
          </c:dPt>
          <c:cat>
            <c:strRef>
              <c:f>Sheet1!$A$2:$A$3</c:f>
              <c:strCache>
                <c:ptCount val="2"/>
                <c:pt idx="0">
                  <c:v>Constant pace</c:v>
                </c:pt>
                <c:pt idx="1">
                  <c:v>Model</c:v>
                </c:pt>
              </c:strCache>
            </c:strRef>
          </c:cat>
          <c:val>
            <c:numRef>
              <c:f>Sheet1!$B$2:$B$3</c:f>
              <c:numCache>
                <c:formatCode>General</c:formatCode>
                <c:ptCount val="2"/>
                <c:pt idx="0">
                  <c:v>54.6</c:v>
                </c:pt>
                <c:pt idx="1">
                  <c:v>24.3</c:v>
                </c:pt>
              </c:numCache>
            </c:numRef>
          </c:val>
        </c:ser>
        <c:dLbls>
          <c:numFmt formatCode="0.0&quot; s&quot;" sourceLinked="0"/>
          <c:txPr>
            <a:bodyPr/>
            <a:lstStyle/>
            <a:p>
              <a:pPr>
                <a:defRPr sz="1200">
                  <a:solidFill>
                    <a:srgbClr val="1E2226"/>
                  </a:solidFill>
                  <a:latin typeface="Calibri"/>
                </a:defRPr>
              </a:pPr>
            </a:p>
          </c:txPr>
          <c:dLblPos val="outEnd"/>
          <c:showLegendKey val="0"/>
          <c:showVal val="1"/>
          <c:showCatName val="0"/>
          <c:showSerName val="0"/>
          <c:showPercent val="0"/>
          <c:showBubbleSize val="0"/>
          <c:showLeaderLines val="1"/>
        </c:dLbls>
        <c:gapWidth val="55"/>
        <c:axId val="-2068027336"/>
        <c:axId val="-2113994440"/>
      </c:barChart>
      <c:catAx>
        <c:axId val="-2068027336"/>
        <c:scaling>
          <c:orientation val="minMax"/>
        </c:scaling>
        <c:delete val="0"/>
        <c:axPos val="b"/>
        <c:majorTickMark val="out"/>
        <c:minorTickMark val="none"/>
        <c:tickLblPos val="nextTo"/>
        <c:spPr>
          <a:ln>
            <a:solidFill>
              <a:srgbClr val="B4B9C0"/>
            </a:solidFill>
          </a:ln>
        </c:spPr>
        <c:txPr>
          <a:bodyPr/>
          <a:lstStyle/>
          <a:p>
            <a:pPr>
              <a:defRPr sz="1200">
                <a:solidFill>
                  <a:srgbClr val="1E2226"/>
                </a:solidFill>
              </a:defRPr>
            </a:pPr>
          </a:p>
        </c:txPr>
        <c:crossAx val="-2113994440"/>
        <c:crosses val="autoZero"/>
        <c:auto val="1"/>
        <c:lblAlgn val="ctr"/>
        <c:lblOffset val="100"/>
        <c:noMultiLvlLbl val="0"/>
      </c:catAx>
      <c:valAx>
        <c:axId val="-2113994440"/>
        <c:scaling>
          <c:min val="0.0"/>
        </c:scaling>
        <c:delete/>
        <c:axPos val="l"/>
        <c:majorTickMark val="out"/>
        <c:minorTickMark val="none"/>
        <c:tickLblPos val="nextTo"/>
        <c:crossAx val="-2068027336"/>
        <c:crosses val="autoZero"/>
      </c:valAx>
    </c:plotArea>
    <c:dispBlanksAs val="gap"/>
  </c:chart>
  <c:txPr>
    <a:bodyPr/>
    <a:lstStyle/>
    <a:p>
      <a:pPr>
        <a:defRPr sz="1200">
          <a:solidFill>
            <a:srgbClr val="5B6168"/>
          </a:solidFill>
          <a:latin typeface="Calibri"/>
        </a:defRPr>
      </a:pPr>
      <a:endParaRPr lang="en-US"/>
    </a:p>
  </c:tx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project asks whether a lap-time model, given only the first few laps of a race, can predict the rest of it well enough to choose a pit strategy. The image is the simulator we built on top of the model.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Lead with the result. The model predicts total race time to about half a percent, less than half the error of assuming constant pace. But the recommended first pit lap is on average 8 laps from what the team did. The reason is on the last line: good strategies differ by a couple of seconds, and that is inside the model's error.</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Data comes from the FastF1 library: lap times, tyre compound, tyre age, track status and weather. 92 races were downloaded; 12 wet races were dropped and 5 had no usable laps. The split is by season, not random, because laps in the same race are strongly correlated. A random split would leak the race into both sides.</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Absolute lap time is mostly the circuit and the car, which the model cannot know for a future race. So each lap is expressed relative to the driver's own baseline pace from their first clean laps. That baseline is known early in the race, so there is no leakage. Every input on the right is known in advance for any hypothetical strategy, which is what lets the model act as a simulator.</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Six candidates were compared on the 2024 validation season. The two naive references are at the bottom. Gradient boosting won, but only by about 3% over plain linear regression. Our first boosted model, with 31-leaf trees, actually lost to linear regression because it fitted race-specific noise. Shrinking the trees to 4 leaves fixed that.</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selected model was refitted on 2022 to 2024 and run once on 2025. Error drops from 1.56 to 0.83 seconds per lap. R squared is 0.44: traffic, driver management and track evolution are not in the data. The error splits into three levels. Only the stint-level part separates strategies; the driver-level part shifts all strategies for that driver equally. The chart is one driver's race predicted from their first laps only.</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model becomes a simulator in five steps. For any strategy we lay out which tyre is on the car and how old it is on every lap, predict each lap, add the circuit's pit-loss time per stop, and sum. We search every one-stop strategy and a grid of two-stop strategies, then draw random races from the model's measured error to show the spread. The search obeys three rules.</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 ran the simulator for every top-ten finisher in the dry 2025 races. Race time could be checked on the 60 driver-races that stayed fully green, because safety cars are not modelled. There the error is 24 seconds against 55 with no model. The scatter compares the recommended first pit lap with the team's: points far from the diagonal are disagreements, and most recommendations are later than the team's stop.</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app. The same driver runs three strategies at once on the real circuit outline: the recommended one, the team's real one, and one the user sets. Wheel colour is the tyre compound, cars drive into the pit box during a stop, and the panel shows live gaps. A random mode draws one possible race from the model's error, so the finishing order can change between runs. Switch to the live app here.</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Four limits explain the gap to the teams. Long stints only appear in the data when the tyres held up, so the model is optimistic about old tyres and recommends later stops. Teams stop early for track position, which we do not model. Safety cars decide many races. And the gains between good strategies are inside the model's error. The next steps follow directly from these.</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lesson for predictive modelling: pointwise accuracy and even system-level accuracy were both good, but the decision needs a finer resolution than the model has. Accuracy has to be judged at the level of the decision. Questions.</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 Id="rId3" Type="http://schemas.openxmlformats.org/officeDocument/2006/relationships/chart" Target="../charts/chart1.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 Id="rId3" Type="http://schemas.openxmlformats.org/officeDocument/2006/relationships/image" Target="../media/image2.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 Id="rId3" Type="http://schemas.openxmlformats.org/officeDocument/2006/relationships/chart" Target="../charts/chart2.xml"/><Relationship Id="rId4" Type="http://schemas.openxmlformats.org/officeDocument/2006/relationships/image" Target="../media/image3.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 Id="rId3" Type="http://schemas.openxmlformats.org/officeDocument/2006/relationships/image" Target="../media/image1.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14171A"/>
        </a:solidFill>
        <a:effectLst/>
      </p:bgPr>
    </p:bg>
    <p:spTree>
      <p:nvGrpSpPr>
        <p:cNvPr id="1" name=""/>
        <p:cNvGrpSpPr/>
        <p:nvPr/>
      </p:nvGrpSpPr>
      <p:grpSpPr/>
      <p:sp>
        <p:nvSpPr>
          <p:cNvPr id="2" name="TextBox 1"/>
          <p:cNvSpPr txBox="1"/>
          <p:nvPr/>
        </p:nvSpPr>
        <p:spPr>
          <a:xfrm>
            <a:off x="640080" y="1417320"/>
            <a:ext cx="5486400" cy="274320"/>
          </a:xfrm>
          <a:prstGeom prst="rect">
            <a:avLst/>
          </a:prstGeom>
          <a:noFill/>
        </p:spPr>
        <p:txBody>
          <a:bodyPr wrap="square" lIns="0" rIns="0" tIns="0" bIns="0" anchor="t">
            <a:spAutoFit/>
          </a:bodyPr>
          <a:lstStyle/>
          <a:p>
            <a:pPr algn="l"/>
            <a:r>
              <a:rPr sz="1200" b="1" i="0">
                <a:solidFill>
                  <a:srgbClr val="E10600"/>
                </a:solidFill>
                <a:latin typeface="Arial"/>
              </a:rPr>
              <a:t>PREDICTIVE MODELLING · COURSE PROJECT</a:t>
            </a:r>
          </a:p>
        </p:txBody>
      </p:sp>
      <p:sp>
        <p:nvSpPr>
          <p:cNvPr id="3" name="TextBox 2"/>
          <p:cNvSpPr txBox="1"/>
          <p:nvPr/>
        </p:nvSpPr>
        <p:spPr>
          <a:xfrm>
            <a:off x="640080" y="1828800"/>
            <a:ext cx="5120640" cy="1920240"/>
          </a:xfrm>
          <a:prstGeom prst="rect">
            <a:avLst/>
          </a:prstGeom>
          <a:noFill/>
        </p:spPr>
        <p:txBody>
          <a:bodyPr wrap="square" lIns="0" rIns="0" tIns="0" bIns="0" anchor="t">
            <a:spAutoFit/>
          </a:bodyPr>
          <a:lstStyle/>
          <a:p>
            <a:pPr algn="l"/>
            <a:r>
              <a:rPr sz="4600" b="1" i="0">
                <a:solidFill>
                  <a:srgbClr val="FFFFFF"/>
                </a:solidFill>
                <a:latin typeface="Arial"/>
              </a:rPr>
              <a:t>Can a model call the pit stop?</a:t>
            </a:r>
          </a:p>
        </p:txBody>
      </p:sp>
      <p:sp>
        <p:nvSpPr>
          <p:cNvPr id="4" name="TextBox 3"/>
          <p:cNvSpPr txBox="1"/>
          <p:nvPr/>
        </p:nvSpPr>
        <p:spPr>
          <a:xfrm>
            <a:off x="640080" y="3977639"/>
            <a:ext cx="4846320" cy="914400"/>
          </a:xfrm>
          <a:prstGeom prst="rect">
            <a:avLst/>
          </a:prstGeom>
          <a:noFill/>
        </p:spPr>
        <p:txBody>
          <a:bodyPr wrap="square" lIns="0" rIns="0" tIns="0" bIns="0" anchor="t">
            <a:spAutoFit/>
          </a:bodyPr>
          <a:lstStyle/>
          <a:p>
            <a:pPr algn="l"/>
            <a:r>
              <a:rPr sz="1800" b="0" i="0">
                <a:solidFill>
                  <a:srgbClr val="C9CDD2"/>
                </a:solidFill>
                <a:latin typeface="Calibri"/>
              </a:rPr>
              <a:t>A race strategy simulator built on real Formula 1 lap data, 2022–2025</a:t>
            </a:r>
          </a:p>
        </p:txBody>
      </p:sp>
      <p:pic>
        <p:nvPicPr>
          <p:cNvPr id="5" name="Picture 4" descr="race_view.png"/>
          <p:cNvPicPr>
            <a:picLocks noChangeAspect="1"/>
          </p:cNvPicPr>
          <p:nvPr/>
        </p:nvPicPr>
        <p:blipFill>
          <a:blip r:embed="rId2"/>
          <a:stretch>
            <a:fillRect/>
          </a:stretch>
        </p:blipFill>
        <p:spPr>
          <a:xfrm>
            <a:off x="6080760" y="1737360"/>
            <a:ext cx="5577840" cy="3119809"/>
          </a:xfrm>
          <a:prstGeom prst="rect">
            <a:avLst/>
          </a:prstGeom>
        </p:spPr>
      </p:pic>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84048"/>
            <a:ext cx="8229600" cy="274320"/>
          </a:xfrm>
          <a:prstGeom prst="rect">
            <a:avLst/>
          </a:prstGeom>
          <a:noFill/>
        </p:spPr>
        <p:txBody>
          <a:bodyPr wrap="square" lIns="0" rIns="0" tIns="0" bIns="0" anchor="t">
            <a:spAutoFit/>
          </a:bodyPr>
          <a:lstStyle/>
          <a:p>
            <a:pPr algn="l"/>
            <a:r>
              <a:rPr sz="1200" b="1" i="0">
                <a:solidFill>
                  <a:srgbClr val="E10600"/>
                </a:solidFill>
                <a:latin typeface="Arial"/>
              </a:rPr>
              <a:t>THE ANSWER FIRST</a:t>
            </a:r>
          </a:p>
        </p:txBody>
      </p:sp>
      <p:sp>
        <p:nvSpPr>
          <p:cNvPr id="3" name="TextBox 2"/>
          <p:cNvSpPr txBox="1"/>
          <p:nvPr/>
        </p:nvSpPr>
        <p:spPr>
          <a:xfrm>
            <a:off x="548640" y="676656"/>
            <a:ext cx="11064240" cy="685800"/>
          </a:xfrm>
          <a:prstGeom prst="rect">
            <a:avLst/>
          </a:prstGeom>
          <a:noFill/>
        </p:spPr>
        <p:txBody>
          <a:bodyPr wrap="square" lIns="0" rIns="0" tIns="0" bIns="0" anchor="ctr">
            <a:spAutoFit/>
          </a:bodyPr>
          <a:lstStyle/>
          <a:p>
            <a:pPr algn="l"/>
            <a:r>
              <a:rPr sz="3200" b="1" i="0">
                <a:solidFill>
                  <a:srgbClr val="14171A"/>
                </a:solidFill>
                <a:latin typeface="Arial"/>
              </a:rPr>
              <a:t>Race time is predictable; the exact pit lap is not</a:t>
            </a:r>
          </a:p>
        </p:txBody>
      </p:sp>
      <p:sp>
        <p:nvSpPr>
          <p:cNvPr id="4" name="TextBox 3"/>
          <p:cNvSpPr txBox="1"/>
          <p:nvPr/>
        </p:nvSpPr>
        <p:spPr>
          <a:xfrm>
            <a:off x="548640" y="6382512"/>
            <a:ext cx="5486400" cy="237744"/>
          </a:xfrm>
          <a:prstGeom prst="rect">
            <a:avLst/>
          </a:prstGeom>
          <a:noFill/>
        </p:spPr>
        <p:txBody>
          <a:bodyPr wrap="square" lIns="0" rIns="0" tIns="0" bIns="0" anchor="t">
            <a:spAutoFit/>
          </a:bodyPr>
          <a:lstStyle/>
          <a:p>
            <a:pPr algn="l"/>
            <a:r>
              <a:rPr sz="1000" b="0" i="0">
                <a:solidFill>
                  <a:srgbClr val="5B6168"/>
                </a:solidFill>
                <a:latin typeface="Calibri"/>
              </a:rPr>
              <a:t>F1 Race Strategy Simulator</a:t>
            </a:r>
          </a:p>
        </p:txBody>
      </p:sp>
      <p:sp>
        <p:nvSpPr>
          <p:cNvPr id="5" name="TextBox 4"/>
          <p:cNvSpPr txBox="1"/>
          <p:nvPr/>
        </p:nvSpPr>
        <p:spPr>
          <a:xfrm>
            <a:off x="10725912" y="6382512"/>
            <a:ext cx="914400" cy="237744"/>
          </a:xfrm>
          <a:prstGeom prst="rect">
            <a:avLst/>
          </a:prstGeom>
          <a:noFill/>
        </p:spPr>
        <p:txBody>
          <a:bodyPr wrap="square" lIns="0" rIns="0" tIns="0" bIns="0" anchor="t">
            <a:spAutoFit/>
          </a:bodyPr>
          <a:lstStyle/>
          <a:p>
            <a:pPr algn="r"/>
            <a:r>
              <a:rPr sz="1000" b="0" i="0">
                <a:solidFill>
                  <a:srgbClr val="5B6168"/>
                </a:solidFill>
                <a:latin typeface="Calibri"/>
              </a:rPr>
              <a:t>2</a:t>
            </a:r>
          </a:p>
        </p:txBody>
      </p:sp>
      <p:sp>
        <p:nvSpPr>
          <p:cNvPr id="6" name="Rounded Rectangle 5"/>
          <p:cNvSpPr/>
          <p:nvPr/>
        </p:nvSpPr>
        <p:spPr>
          <a:xfrm>
            <a:off x="548640" y="1783080"/>
            <a:ext cx="2624328" cy="2514600"/>
          </a:xfrm>
          <a:prstGeom prst="roundRect">
            <a:avLst>
              <a:gd name="adj" fmla="val 5090"/>
            </a:avLst>
          </a:prstGeom>
          <a:solidFill>
            <a:srgbClr val="F2F3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04672" y="2002536"/>
            <a:ext cx="2112264" cy="868680"/>
          </a:xfrm>
          <a:prstGeom prst="rect">
            <a:avLst/>
          </a:prstGeom>
          <a:noFill/>
        </p:spPr>
        <p:txBody>
          <a:bodyPr wrap="square" lIns="0" rIns="0" tIns="0" bIns="0" anchor="ctr">
            <a:spAutoFit/>
          </a:bodyPr>
          <a:lstStyle/>
          <a:p>
            <a:pPr algn="l"/>
            <a:r>
              <a:rPr sz="4400" b="1" i="0">
                <a:solidFill>
                  <a:srgbClr val="E10600"/>
                </a:solidFill>
                <a:latin typeface="Arial"/>
              </a:rPr>
              <a:t>0.57%</a:t>
            </a:r>
          </a:p>
        </p:txBody>
      </p:sp>
      <p:sp>
        <p:nvSpPr>
          <p:cNvPr id="8" name="TextBox 7"/>
          <p:cNvSpPr txBox="1"/>
          <p:nvPr/>
        </p:nvSpPr>
        <p:spPr>
          <a:xfrm>
            <a:off x="804672" y="2953512"/>
            <a:ext cx="2112264" cy="1188720"/>
          </a:xfrm>
          <a:prstGeom prst="rect">
            <a:avLst/>
          </a:prstGeom>
          <a:noFill/>
        </p:spPr>
        <p:txBody>
          <a:bodyPr wrap="square" lIns="0" rIns="0" tIns="0" bIns="0" anchor="t">
            <a:spAutoFit/>
          </a:bodyPr>
          <a:lstStyle/>
          <a:p>
            <a:pPr algn="l"/>
            <a:r>
              <a:rPr sz="1400" b="0" i="0">
                <a:solidFill>
                  <a:srgbClr val="5B6168"/>
                </a:solidFill>
                <a:latin typeface="Calibri"/>
              </a:rPr>
              <a:t>Race-time error for the strategy really used: 24 s over a race of about 70 minutes</a:t>
            </a:r>
          </a:p>
        </p:txBody>
      </p:sp>
      <p:sp>
        <p:nvSpPr>
          <p:cNvPr id="9" name="Rounded Rectangle 8"/>
          <p:cNvSpPr/>
          <p:nvPr/>
        </p:nvSpPr>
        <p:spPr>
          <a:xfrm>
            <a:off x="3355848" y="1783080"/>
            <a:ext cx="2624328" cy="2514600"/>
          </a:xfrm>
          <a:prstGeom prst="roundRect">
            <a:avLst>
              <a:gd name="adj" fmla="val 5090"/>
            </a:avLst>
          </a:prstGeom>
          <a:solidFill>
            <a:srgbClr val="F2F3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3611880" y="2002536"/>
            <a:ext cx="2112264" cy="868680"/>
          </a:xfrm>
          <a:prstGeom prst="rect">
            <a:avLst/>
          </a:prstGeom>
          <a:noFill/>
        </p:spPr>
        <p:txBody>
          <a:bodyPr wrap="square" lIns="0" rIns="0" tIns="0" bIns="0" anchor="ctr">
            <a:spAutoFit/>
          </a:bodyPr>
          <a:lstStyle/>
          <a:p>
            <a:pPr algn="l"/>
            <a:r>
              <a:rPr sz="4400" b="1" i="0">
                <a:solidFill>
                  <a:srgbClr val="14171A"/>
                </a:solidFill>
                <a:latin typeface="Arial"/>
              </a:rPr>
              <a:t>2.2×</a:t>
            </a:r>
          </a:p>
        </p:txBody>
      </p:sp>
      <p:sp>
        <p:nvSpPr>
          <p:cNvPr id="11" name="TextBox 10"/>
          <p:cNvSpPr txBox="1"/>
          <p:nvPr/>
        </p:nvSpPr>
        <p:spPr>
          <a:xfrm>
            <a:off x="3611880" y="2953512"/>
            <a:ext cx="2112264" cy="1188720"/>
          </a:xfrm>
          <a:prstGeom prst="rect">
            <a:avLst/>
          </a:prstGeom>
          <a:noFill/>
        </p:spPr>
        <p:txBody>
          <a:bodyPr wrap="square" lIns="0" rIns="0" tIns="0" bIns="0" anchor="t">
            <a:spAutoFit/>
          </a:bodyPr>
          <a:lstStyle/>
          <a:p>
            <a:pPr algn="l"/>
            <a:r>
              <a:rPr sz="1400" b="0" i="0">
                <a:solidFill>
                  <a:srgbClr val="5B6168"/>
                </a:solidFill>
                <a:latin typeface="Calibri"/>
              </a:rPr>
              <a:t>Lower race-time error than constant pace: 24 s instead of 55 s</a:t>
            </a:r>
          </a:p>
        </p:txBody>
      </p:sp>
      <p:sp>
        <p:nvSpPr>
          <p:cNvPr id="12" name="Rounded Rectangle 11"/>
          <p:cNvSpPr/>
          <p:nvPr/>
        </p:nvSpPr>
        <p:spPr>
          <a:xfrm>
            <a:off x="6163055" y="1783080"/>
            <a:ext cx="2624328" cy="2514600"/>
          </a:xfrm>
          <a:prstGeom prst="roundRect">
            <a:avLst>
              <a:gd name="adj" fmla="val 5090"/>
            </a:avLst>
          </a:prstGeom>
          <a:solidFill>
            <a:srgbClr val="F2F3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19088" y="2002536"/>
            <a:ext cx="2112264" cy="868680"/>
          </a:xfrm>
          <a:prstGeom prst="rect">
            <a:avLst/>
          </a:prstGeom>
          <a:noFill/>
        </p:spPr>
        <p:txBody>
          <a:bodyPr wrap="square" lIns="0" rIns="0" tIns="0" bIns="0" anchor="ctr">
            <a:spAutoFit/>
          </a:bodyPr>
          <a:lstStyle/>
          <a:p>
            <a:pPr algn="l"/>
            <a:r>
              <a:rPr sz="4400" b="1" i="0">
                <a:solidFill>
                  <a:srgbClr val="14171A"/>
                </a:solidFill>
                <a:latin typeface="Arial"/>
              </a:rPr>
              <a:t>65%</a:t>
            </a:r>
          </a:p>
        </p:txBody>
      </p:sp>
      <p:sp>
        <p:nvSpPr>
          <p:cNvPr id="14" name="TextBox 13"/>
          <p:cNvSpPr txBox="1"/>
          <p:nvPr/>
        </p:nvSpPr>
        <p:spPr>
          <a:xfrm>
            <a:off x="6419088" y="2953512"/>
            <a:ext cx="2112264" cy="1188720"/>
          </a:xfrm>
          <a:prstGeom prst="rect">
            <a:avLst/>
          </a:prstGeom>
          <a:noFill/>
        </p:spPr>
        <p:txBody>
          <a:bodyPr wrap="square" lIns="0" rIns="0" tIns="0" bIns="0" anchor="t">
            <a:spAutoFit/>
          </a:bodyPr>
          <a:lstStyle/>
          <a:p>
            <a:pPr algn="l"/>
            <a:r>
              <a:rPr sz="1400" b="0" i="0">
                <a:solidFill>
                  <a:srgbClr val="5B6168"/>
                </a:solidFill>
                <a:latin typeface="Calibri"/>
              </a:rPr>
              <a:t>Recommended number of stops matches the team's</a:t>
            </a:r>
          </a:p>
        </p:txBody>
      </p:sp>
      <p:sp>
        <p:nvSpPr>
          <p:cNvPr id="15" name="Rounded Rectangle 14"/>
          <p:cNvSpPr/>
          <p:nvPr/>
        </p:nvSpPr>
        <p:spPr>
          <a:xfrm>
            <a:off x="8970263" y="1783080"/>
            <a:ext cx="2624328" cy="2514600"/>
          </a:xfrm>
          <a:prstGeom prst="roundRect">
            <a:avLst>
              <a:gd name="adj" fmla="val 5090"/>
            </a:avLst>
          </a:prstGeom>
          <a:solidFill>
            <a:srgbClr val="F2F3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9226295" y="2002536"/>
            <a:ext cx="2112264" cy="868680"/>
          </a:xfrm>
          <a:prstGeom prst="rect">
            <a:avLst/>
          </a:prstGeom>
          <a:noFill/>
        </p:spPr>
        <p:txBody>
          <a:bodyPr wrap="square" lIns="0" rIns="0" tIns="0" bIns="0" anchor="ctr">
            <a:spAutoFit/>
          </a:bodyPr>
          <a:lstStyle/>
          <a:p>
            <a:pPr algn="l"/>
            <a:r>
              <a:rPr sz="4400" b="1" i="0">
                <a:solidFill>
                  <a:srgbClr val="14171A"/>
                </a:solidFill>
                <a:latin typeface="Arial"/>
              </a:rPr>
              <a:t>8 laps</a:t>
            </a:r>
          </a:p>
        </p:txBody>
      </p:sp>
      <p:sp>
        <p:nvSpPr>
          <p:cNvPr id="17" name="TextBox 16"/>
          <p:cNvSpPr txBox="1"/>
          <p:nvPr/>
        </p:nvSpPr>
        <p:spPr>
          <a:xfrm>
            <a:off x="9226295" y="2953512"/>
            <a:ext cx="2112264" cy="1188720"/>
          </a:xfrm>
          <a:prstGeom prst="rect">
            <a:avLst/>
          </a:prstGeom>
          <a:noFill/>
        </p:spPr>
        <p:txBody>
          <a:bodyPr wrap="square" lIns="0" rIns="0" tIns="0" bIns="0" anchor="t">
            <a:spAutoFit/>
          </a:bodyPr>
          <a:lstStyle/>
          <a:p>
            <a:pPr algn="l"/>
            <a:r>
              <a:rPr sz="1400" b="0" i="0">
                <a:solidFill>
                  <a:srgbClr val="5B6168"/>
                </a:solidFill>
                <a:latin typeface="Calibri"/>
              </a:rPr>
              <a:t>Average distance between the recommended first pit lap and the team's</a:t>
            </a:r>
          </a:p>
        </p:txBody>
      </p:sp>
      <p:sp>
        <p:nvSpPr>
          <p:cNvPr id="18" name="Rounded Rectangle 17"/>
          <p:cNvSpPr/>
          <p:nvPr/>
        </p:nvSpPr>
        <p:spPr>
          <a:xfrm>
            <a:off x="548640" y="4663440"/>
            <a:ext cx="11091672" cy="1188720"/>
          </a:xfrm>
          <a:prstGeom prst="roundRect">
            <a:avLst>
              <a:gd name="adj" fmla="val 8000"/>
            </a:avLst>
          </a:prstGeom>
          <a:solidFill>
            <a:srgbClr val="1417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68680" y="4663440"/>
            <a:ext cx="10424160" cy="1188720"/>
          </a:xfrm>
          <a:prstGeom prst="rect">
            <a:avLst/>
          </a:prstGeom>
          <a:noFill/>
        </p:spPr>
        <p:txBody>
          <a:bodyPr wrap="square" lIns="0" rIns="0" tIns="0" bIns="0" anchor="ctr">
            <a:spAutoFit/>
          </a:bodyPr>
          <a:lstStyle/>
          <a:p>
            <a:pPr algn="l"/>
            <a:r>
              <a:rPr sz="1900" b="0" i="0">
                <a:solidFill>
                  <a:srgbClr val="FFFFFF"/>
                </a:solidFill>
                <a:latin typeface="Calibri"/>
              </a:rPr>
              <a:t>Good strategies differ by about 2 seconds. That is smaller than the model's own error, so it can rank races, not pit laps.</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84048"/>
            <a:ext cx="8229600" cy="274320"/>
          </a:xfrm>
          <a:prstGeom prst="rect">
            <a:avLst/>
          </a:prstGeom>
          <a:noFill/>
        </p:spPr>
        <p:txBody>
          <a:bodyPr wrap="square" lIns="0" rIns="0" tIns="0" bIns="0" anchor="t">
            <a:spAutoFit/>
          </a:bodyPr>
          <a:lstStyle/>
          <a:p>
            <a:pPr algn="l"/>
            <a:r>
              <a:rPr sz="1200" b="1" i="0">
                <a:solidFill>
                  <a:srgbClr val="E10600"/>
                </a:solidFill>
                <a:latin typeface="Arial"/>
              </a:rPr>
              <a:t>DATA</a:t>
            </a:r>
          </a:p>
        </p:txBody>
      </p:sp>
      <p:sp>
        <p:nvSpPr>
          <p:cNvPr id="3" name="TextBox 2"/>
          <p:cNvSpPr txBox="1"/>
          <p:nvPr/>
        </p:nvSpPr>
        <p:spPr>
          <a:xfrm>
            <a:off x="548640" y="676656"/>
            <a:ext cx="11064240" cy="685800"/>
          </a:xfrm>
          <a:prstGeom prst="rect">
            <a:avLst/>
          </a:prstGeom>
          <a:noFill/>
        </p:spPr>
        <p:txBody>
          <a:bodyPr wrap="square" lIns="0" rIns="0" tIns="0" bIns="0" anchor="ctr">
            <a:spAutoFit/>
          </a:bodyPr>
          <a:lstStyle/>
          <a:p>
            <a:pPr algn="l"/>
            <a:r>
              <a:rPr sz="3200" b="1" i="0">
                <a:solidFill>
                  <a:srgbClr val="14171A"/>
                </a:solidFill>
                <a:latin typeface="Arial"/>
              </a:rPr>
              <a:t>Real race laps, split by season</a:t>
            </a:r>
          </a:p>
        </p:txBody>
      </p:sp>
      <p:sp>
        <p:nvSpPr>
          <p:cNvPr id="4" name="TextBox 3"/>
          <p:cNvSpPr txBox="1"/>
          <p:nvPr/>
        </p:nvSpPr>
        <p:spPr>
          <a:xfrm>
            <a:off x="548640" y="6382512"/>
            <a:ext cx="5486400" cy="237744"/>
          </a:xfrm>
          <a:prstGeom prst="rect">
            <a:avLst/>
          </a:prstGeom>
          <a:noFill/>
        </p:spPr>
        <p:txBody>
          <a:bodyPr wrap="square" lIns="0" rIns="0" tIns="0" bIns="0" anchor="t">
            <a:spAutoFit/>
          </a:bodyPr>
          <a:lstStyle/>
          <a:p>
            <a:pPr algn="l"/>
            <a:r>
              <a:rPr sz="1000" b="0" i="0">
                <a:solidFill>
                  <a:srgbClr val="5B6168"/>
                </a:solidFill>
                <a:latin typeface="Calibri"/>
              </a:rPr>
              <a:t>F1 Race Strategy Simulator</a:t>
            </a:r>
          </a:p>
        </p:txBody>
      </p:sp>
      <p:sp>
        <p:nvSpPr>
          <p:cNvPr id="5" name="TextBox 4"/>
          <p:cNvSpPr txBox="1"/>
          <p:nvPr/>
        </p:nvSpPr>
        <p:spPr>
          <a:xfrm>
            <a:off x="10725912" y="6382512"/>
            <a:ext cx="914400" cy="237744"/>
          </a:xfrm>
          <a:prstGeom prst="rect">
            <a:avLst/>
          </a:prstGeom>
          <a:noFill/>
        </p:spPr>
        <p:txBody>
          <a:bodyPr wrap="square" lIns="0" rIns="0" tIns="0" bIns="0" anchor="t">
            <a:spAutoFit/>
          </a:bodyPr>
          <a:lstStyle/>
          <a:p>
            <a:pPr algn="r"/>
            <a:r>
              <a:rPr sz="1000" b="0" i="0">
                <a:solidFill>
                  <a:srgbClr val="5B6168"/>
                </a:solidFill>
                <a:latin typeface="Calibri"/>
              </a:rPr>
              <a:t>3</a:t>
            </a:r>
          </a:p>
        </p:txBody>
      </p:sp>
      <p:graphicFrame>
        <p:nvGraphicFramePr>
          <p:cNvPr id="6" name="Table 5"/>
          <p:cNvGraphicFramePr>
            <a:graphicFrameLocks noGrp="1"/>
          </p:cNvGraphicFramePr>
          <p:nvPr/>
        </p:nvGraphicFramePr>
        <p:xfrm>
          <a:off x="548640" y="1783080"/>
          <a:ext cx="6035040" cy="2377440"/>
        </p:xfrm>
        <a:graphic>
          <a:graphicData uri="http://schemas.openxmlformats.org/drawingml/2006/table">
            <a:tbl>
              <a:tblPr firstRow="1" bandRow="1">
                <a:tableStyleId>{5C22544A-7EE6-4342-B048-85BDC9FD1C3A}</a:tableStyleId>
              </a:tblPr>
              <a:tblGrid>
                <a:gridCol w="1508760"/>
                <a:gridCol w="1508760"/>
                <a:gridCol w="1508760"/>
                <a:gridCol w="1508760"/>
              </a:tblGrid>
              <a:tr h="594360">
                <a:tc>
                  <a:txBody>
                    <a:bodyPr/>
                    <a:lstStyle/>
                    <a:p>
                      <a:pPr algn="l"/>
                      <a:r>
                        <a:rPr sz="1600" b="1">
                          <a:solidFill>
                            <a:srgbClr val="FFFFFF"/>
                          </a:solidFill>
                          <a:latin typeface="Calibri"/>
                        </a:rPr>
                        <a:t>Split</a:t>
                      </a:r>
                    </a:p>
                  </a:txBody>
                  <a:tcPr marL="137160" anchor="ctr">
                    <a:solidFill>
                      <a:srgbClr val="14171A"/>
                    </a:solidFill>
                  </a:tcPr>
                </a:tc>
                <a:tc>
                  <a:txBody>
                    <a:bodyPr/>
                    <a:lstStyle/>
                    <a:p>
                      <a:pPr algn="l"/>
                      <a:r>
                        <a:rPr sz="1600" b="1">
                          <a:solidFill>
                            <a:srgbClr val="FFFFFF"/>
                          </a:solidFill>
                          <a:latin typeface="Calibri"/>
                        </a:rPr>
                        <a:t>Seasons</a:t>
                      </a:r>
                    </a:p>
                  </a:txBody>
                  <a:tcPr marL="137160" anchor="ctr">
                    <a:solidFill>
                      <a:srgbClr val="14171A"/>
                    </a:solidFill>
                  </a:tcPr>
                </a:tc>
                <a:tc>
                  <a:txBody>
                    <a:bodyPr/>
                    <a:lstStyle/>
                    <a:p>
                      <a:pPr algn="r"/>
                      <a:r>
                        <a:rPr sz="1600" b="1">
                          <a:solidFill>
                            <a:srgbClr val="FFFFFF"/>
                          </a:solidFill>
                          <a:latin typeface="Calibri"/>
                        </a:rPr>
                        <a:t>Dry races</a:t>
                      </a:r>
                    </a:p>
                  </a:txBody>
                  <a:tcPr marL="137160" anchor="ctr">
                    <a:solidFill>
                      <a:srgbClr val="14171A"/>
                    </a:solidFill>
                  </a:tcPr>
                </a:tc>
                <a:tc>
                  <a:txBody>
                    <a:bodyPr/>
                    <a:lstStyle/>
                    <a:p>
                      <a:pPr algn="r"/>
                      <a:r>
                        <a:rPr sz="1600" b="1">
                          <a:solidFill>
                            <a:srgbClr val="FFFFFF"/>
                          </a:solidFill>
                          <a:latin typeface="Calibri"/>
                        </a:rPr>
                        <a:t>Laps used</a:t>
                      </a:r>
                    </a:p>
                  </a:txBody>
                  <a:tcPr marL="137160" anchor="ctr">
                    <a:solidFill>
                      <a:srgbClr val="14171A"/>
                    </a:solidFill>
                  </a:tcPr>
                </a:tc>
              </a:tr>
              <a:tr h="594360">
                <a:tc>
                  <a:txBody>
                    <a:bodyPr/>
                    <a:lstStyle/>
                    <a:p>
                      <a:pPr algn="l"/>
                      <a:r>
                        <a:rPr sz="1600" b="1">
                          <a:solidFill>
                            <a:srgbClr val="1E2226"/>
                          </a:solidFill>
                          <a:latin typeface="Calibri"/>
                        </a:rPr>
                        <a:t>Train</a:t>
                      </a:r>
                    </a:p>
                  </a:txBody>
                  <a:tcPr marL="137160" anchor="ctr">
                    <a:solidFill>
                      <a:srgbClr val="F2F3F5"/>
                    </a:solidFill>
                  </a:tcPr>
                </a:tc>
                <a:tc>
                  <a:txBody>
                    <a:bodyPr/>
                    <a:lstStyle/>
                    <a:p>
                      <a:pPr algn="l"/>
                      <a:r>
                        <a:rPr sz="1600" b="0">
                          <a:solidFill>
                            <a:srgbClr val="1E2226"/>
                          </a:solidFill>
                          <a:latin typeface="Calibri"/>
                        </a:rPr>
                        <a:t>2022, 2023</a:t>
                      </a:r>
                    </a:p>
                  </a:txBody>
                  <a:tcPr marL="137160" anchor="ctr">
                    <a:solidFill>
                      <a:srgbClr val="F2F3F5"/>
                    </a:solidFill>
                  </a:tcPr>
                </a:tc>
                <a:tc>
                  <a:txBody>
                    <a:bodyPr/>
                    <a:lstStyle/>
                    <a:p>
                      <a:pPr algn="r"/>
                      <a:r>
                        <a:rPr sz="1600" b="0">
                          <a:solidFill>
                            <a:srgbClr val="1E2226"/>
                          </a:solidFill>
                          <a:latin typeface="Calibri"/>
                        </a:rPr>
                        <a:t>35</a:t>
                      </a:r>
                    </a:p>
                  </a:txBody>
                  <a:tcPr marL="137160" anchor="ctr">
                    <a:solidFill>
                      <a:srgbClr val="F2F3F5"/>
                    </a:solidFill>
                  </a:tcPr>
                </a:tc>
                <a:tc>
                  <a:txBody>
                    <a:bodyPr/>
                    <a:lstStyle/>
                    <a:p>
                      <a:pPr algn="r"/>
                      <a:r>
                        <a:rPr sz="1600" b="0">
                          <a:solidFill>
                            <a:srgbClr val="1E2226"/>
                          </a:solidFill>
                          <a:latin typeface="Calibri"/>
                        </a:rPr>
                        <a:t>24,039</a:t>
                      </a:r>
                    </a:p>
                  </a:txBody>
                  <a:tcPr marL="137160" anchor="ctr">
                    <a:solidFill>
                      <a:srgbClr val="F2F3F5"/>
                    </a:solidFill>
                  </a:tcPr>
                </a:tc>
              </a:tr>
              <a:tr h="594360">
                <a:tc>
                  <a:txBody>
                    <a:bodyPr/>
                    <a:lstStyle/>
                    <a:p>
                      <a:pPr algn="l"/>
                      <a:r>
                        <a:rPr sz="1600" b="1">
                          <a:solidFill>
                            <a:srgbClr val="1E2226"/>
                          </a:solidFill>
                          <a:latin typeface="Calibri"/>
                        </a:rPr>
                        <a:t>Validation</a:t>
                      </a:r>
                    </a:p>
                  </a:txBody>
                  <a:tcPr marL="137160" anchor="ctr">
                    <a:solidFill>
                      <a:srgbClr val="FFFFFF"/>
                    </a:solidFill>
                  </a:tcPr>
                </a:tc>
                <a:tc>
                  <a:txBody>
                    <a:bodyPr/>
                    <a:lstStyle/>
                    <a:p>
                      <a:pPr algn="l"/>
                      <a:r>
                        <a:rPr sz="1600" b="0">
                          <a:solidFill>
                            <a:srgbClr val="1E2226"/>
                          </a:solidFill>
                          <a:latin typeface="Calibri"/>
                        </a:rPr>
                        <a:t>2024</a:t>
                      </a:r>
                    </a:p>
                  </a:txBody>
                  <a:tcPr marL="137160" anchor="ctr">
                    <a:solidFill>
                      <a:srgbClr val="FFFFFF"/>
                    </a:solidFill>
                  </a:tcPr>
                </a:tc>
                <a:tc>
                  <a:txBody>
                    <a:bodyPr/>
                    <a:lstStyle/>
                    <a:p>
                      <a:pPr algn="r"/>
                      <a:r>
                        <a:rPr sz="1600" b="0">
                          <a:solidFill>
                            <a:srgbClr val="1E2226"/>
                          </a:solidFill>
                          <a:latin typeface="Calibri"/>
                        </a:rPr>
                        <a:t>19</a:t>
                      </a:r>
                    </a:p>
                  </a:txBody>
                  <a:tcPr marL="137160" anchor="ctr">
                    <a:solidFill>
                      <a:srgbClr val="FFFFFF"/>
                    </a:solidFill>
                  </a:tcPr>
                </a:tc>
                <a:tc>
                  <a:txBody>
                    <a:bodyPr/>
                    <a:lstStyle/>
                    <a:p>
                      <a:pPr algn="r"/>
                      <a:r>
                        <a:rPr sz="1600" b="0">
                          <a:solidFill>
                            <a:srgbClr val="1E2226"/>
                          </a:solidFill>
                          <a:latin typeface="Calibri"/>
                        </a:rPr>
                        <a:t>15,332</a:t>
                      </a:r>
                    </a:p>
                  </a:txBody>
                  <a:tcPr marL="137160" anchor="ctr">
                    <a:solidFill>
                      <a:srgbClr val="FFFFFF"/>
                    </a:solidFill>
                  </a:tcPr>
                </a:tc>
              </a:tr>
              <a:tr h="594360">
                <a:tc>
                  <a:txBody>
                    <a:bodyPr/>
                    <a:lstStyle/>
                    <a:p>
                      <a:pPr algn="l"/>
                      <a:r>
                        <a:rPr sz="1600" b="1">
                          <a:solidFill>
                            <a:srgbClr val="1E2226"/>
                          </a:solidFill>
                          <a:latin typeface="Calibri"/>
                        </a:rPr>
                        <a:t>Test</a:t>
                      </a:r>
                    </a:p>
                  </a:txBody>
                  <a:tcPr marL="137160" anchor="ctr">
                    <a:solidFill>
                      <a:srgbClr val="F2F3F5"/>
                    </a:solidFill>
                  </a:tcPr>
                </a:tc>
                <a:tc>
                  <a:txBody>
                    <a:bodyPr/>
                    <a:lstStyle/>
                    <a:p>
                      <a:pPr algn="l"/>
                      <a:r>
                        <a:rPr sz="1600" b="0">
                          <a:solidFill>
                            <a:srgbClr val="1E2226"/>
                          </a:solidFill>
                          <a:latin typeface="Calibri"/>
                        </a:rPr>
                        <a:t>2025</a:t>
                      </a:r>
                    </a:p>
                  </a:txBody>
                  <a:tcPr marL="137160" anchor="ctr">
                    <a:solidFill>
                      <a:srgbClr val="F2F3F5"/>
                    </a:solidFill>
                  </a:tcPr>
                </a:tc>
                <a:tc>
                  <a:txBody>
                    <a:bodyPr/>
                    <a:lstStyle/>
                    <a:p>
                      <a:pPr algn="r"/>
                      <a:r>
                        <a:rPr sz="1600" b="0">
                          <a:solidFill>
                            <a:srgbClr val="1E2226"/>
                          </a:solidFill>
                          <a:latin typeface="Calibri"/>
                        </a:rPr>
                        <a:t>21</a:t>
                      </a:r>
                    </a:p>
                  </a:txBody>
                  <a:tcPr marL="137160" anchor="ctr">
                    <a:solidFill>
                      <a:srgbClr val="F2F3F5"/>
                    </a:solidFill>
                  </a:tcPr>
                </a:tc>
                <a:tc>
                  <a:txBody>
                    <a:bodyPr/>
                    <a:lstStyle/>
                    <a:p>
                      <a:pPr algn="r"/>
                      <a:r>
                        <a:rPr sz="1600" b="0">
                          <a:solidFill>
                            <a:srgbClr val="1E2226"/>
                          </a:solidFill>
                          <a:latin typeface="Calibri"/>
                        </a:rPr>
                        <a:t>15,844</a:t>
                      </a:r>
                    </a:p>
                  </a:txBody>
                  <a:tcPr marL="137160" anchor="ctr">
                    <a:solidFill>
                      <a:srgbClr val="F2F3F5"/>
                    </a:solidFill>
                  </a:tcPr>
                </a:tc>
              </a:tr>
            </a:tbl>
          </a:graphicData>
        </a:graphic>
      </p:graphicFrame>
      <p:sp>
        <p:nvSpPr>
          <p:cNvPr id="7" name="TextBox 6"/>
          <p:cNvSpPr txBox="1"/>
          <p:nvPr/>
        </p:nvSpPr>
        <p:spPr>
          <a:xfrm>
            <a:off x="548640" y="4343400"/>
            <a:ext cx="6035040" cy="548640"/>
          </a:xfrm>
          <a:prstGeom prst="rect">
            <a:avLst/>
          </a:prstGeom>
          <a:noFill/>
        </p:spPr>
        <p:txBody>
          <a:bodyPr wrap="square" lIns="0" rIns="0" tIns="0" bIns="0" anchor="t">
            <a:spAutoFit/>
          </a:bodyPr>
          <a:lstStyle/>
          <a:p>
            <a:pPr algn="l"/>
            <a:r>
              <a:rPr sz="1200" b="0" i="0">
                <a:solidFill>
                  <a:srgbClr val="5B6168"/>
                </a:solidFill>
                <a:latin typeface="Calibri"/>
              </a:rPr>
              <a:t>Source: FastF1. 92 races downloaded; 12 wet races dropped; 5 had no usable laps after cleaning.</a:t>
            </a:r>
          </a:p>
        </p:txBody>
      </p:sp>
      <p:sp>
        <p:nvSpPr>
          <p:cNvPr id="8" name="TextBox 7"/>
          <p:cNvSpPr txBox="1"/>
          <p:nvPr/>
        </p:nvSpPr>
        <p:spPr>
          <a:xfrm>
            <a:off x="548640" y="4983480"/>
            <a:ext cx="6035040" cy="640080"/>
          </a:xfrm>
          <a:prstGeom prst="rect">
            <a:avLst/>
          </a:prstGeom>
          <a:noFill/>
        </p:spPr>
        <p:txBody>
          <a:bodyPr wrap="square" lIns="0" rIns="0" tIns="0" bIns="0" anchor="t">
            <a:spAutoFit/>
          </a:bodyPr>
          <a:lstStyle/>
          <a:p>
            <a:pPr algn="l"/>
            <a:r>
              <a:rPr sz="1400" b="0" i="0">
                <a:solidFill>
                  <a:srgbClr val="1E2226"/>
                </a:solidFill>
                <a:latin typeface="Calibri"/>
              </a:rPr>
              <a:t>Only clean laps are modelled: green flag, dry tyres, no pit entry or exit, within 4% of the driver's median pace.</a:t>
            </a:r>
          </a:p>
        </p:txBody>
      </p:sp>
      <p:sp>
        <p:nvSpPr>
          <p:cNvPr id="9" name="Rounded Rectangle 8"/>
          <p:cNvSpPr/>
          <p:nvPr/>
        </p:nvSpPr>
        <p:spPr>
          <a:xfrm>
            <a:off x="6949440" y="1783080"/>
            <a:ext cx="4690872" cy="4069080"/>
          </a:xfrm>
          <a:prstGeom prst="roundRect">
            <a:avLst>
              <a:gd name="adj" fmla="val 3146"/>
            </a:avLst>
          </a:prstGeom>
          <a:solidFill>
            <a:srgbClr val="F2F3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269480" y="2011680"/>
            <a:ext cx="4023360" cy="365760"/>
          </a:xfrm>
          <a:prstGeom prst="rect">
            <a:avLst/>
          </a:prstGeom>
          <a:noFill/>
        </p:spPr>
        <p:txBody>
          <a:bodyPr wrap="square" lIns="0" rIns="0" tIns="0" bIns="0" anchor="t">
            <a:spAutoFit/>
          </a:bodyPr>
          <a:lstStyle/>
          <a:p>
            <a:pPr algn="l"/>
            <a:r>
              <a:rPr sz="2000" b="1" i="0">
                <a:solidFill>
                  <a:srgbClr val="14171A"/>
                </a:solidFill>
                <a:latin typeface="Arial"/>
              </a:rPr>
              <a:t>Why split by season</a:t>
            </a:r>
          </a:p>
        </p:txBody>
      </p:sp>
      <p:sp>
        <p:nvSpPr>
          <p:cNvPr id="11" name="TextBox 10"/>
          <p:cNvSpPr txBox="1"/>
          <p:nvPr/>
        </p:nvSpPr>
        <p:spPr>
          <a:xfrm>
            <a:off x="7269480" y="2560320"/>
            <a:ext cx="4069080" cy="3200400"/>
          </a:xfrm>
          <a:prstGeom prst="rect">
            <a:avLst/>
          </a:prstGeom>
          <a:noFill/>
        </p:spPr>
        <p:txBody>
          <a:bodyPr wrap="square" lIns="0" rIns="0" tIns="0" bIns="0" anchor="t">
            <a:spAutoFit/>
          </a:bodyPr>
          <a:lstStyle/>
          <a:p>
            <a:pPr algn="l"/>
            <a:r>
              <a:rPr sz="1600" b="0" i="0">
                <a:solidFill>
                  <a:srgbClr val="1E2226"/>
                </a:solidFill>
                <a:latin typeface="Calibri"/>
              </a:rPr>
              <a:t>Laps from one race share the same track, weather and car. A random split puts the same race on both sides and overstates accuracy.</a:t>
            </a:r>
          </a:p>
          <a:p>
            <a:pPr algn="l">
              <a:spcBef>
                <a:spcPts val="1200"/>
              </a:spcBef>
            </a:pPr>
            <a:r>
              <a:rPr sz="1600" b="0" i="0">
                <a:solidFill>
                  <a:srgbClr val="1E2226"/>
                </a:solidFill>
                <a:latin typeface="Calibri"/>
              </a:rPr>
              <a:t>Splitting by season means the model is always tested on races it has never seen.</a:t>
            </a:r>
          </a:p>
          <a:p>
            <a:pPr algn="l">
              <a:spcBef>
                <a:spcPts val="1200"/>
              </a:spcBef>
            </a:pPr>
            <a:r>
              <a:rPr sz="1600" b="0" i="0">
                <a:solidFill>
                  <a:srgbClr val="1E2226"/>
                </a:solidFill>
                <a:latin typeface="Calibri"/>
              </a:rPr>
              <a:t>2022–2025 is one set of technical rules, so the cars are comparable.</a:t>
            </a:r>
          </a:p>
          <a:p>
            <a:pPr algn="l">
              <a:spcBef>
                <a:spcPts val="1200"/>
              </a:spcBef>
            </a:pPr>
            <a:r>
              <a:rPr sz="1600" b="0" i="0">
                <a:solidFill>
                  <a:srgbClr val="1E2226"/>
                </a:solidFill>
                <a:latin typeface="Calibri"/>
              </a:rPr>
              <a:t>The 2025 season was used once, after the model was chosen.</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84048"/>
            <a:ext cx="8229600" cy="274320"/>
          </a:xfrm>
          <a:prstGeom prst="rect">
            <a:avLst/>
          </a:prstGeom>
          <a:noFill/>
        </p:spPr>
        <p:txBody>
          <a:bodyPr wrap="square" lIns="0" rIns="0" tIns="0" bIns="0" anchor="t">
            <a:spAutoFit/>
          </a:bodyPr>
          <a:lstStyle/>
          <a:p>
            <a:pPr algn="l"/>
            <a:r>
              <a:rPr sz="1200" b="1" i="0">
                <a:solidFill>
                  <a:srgbClr val="E10600"/>
                </a:solidFill>
                <a:latin typeface="Arial"/>
              </a:rPr>
              <a:t>TARGET AND INPUTS</a:t>
            </a:r>
          </a:p>
        </p:txBody>
      </p:sp>
      <p:sp>
        <p:nvSpPr>
          <p:cNvPr id="3" name="TextBox 2"/>
          <p:cNvSpPr txBox="1"/>
          <p:nvPr/>
        </p:nvSpPr>
        <p:spPr>
          <a:xfrm>
            <a:off x="548640" y="676656"/>
            <a:ext cx="11064240" cy="685800"/>
          </a:xfrm>
          <a:prstGeom prst="rect">
            <a:avLst/>
          </a:prstGeom>
          <a:noFill/>
        </p:spPr>
        <p:txBody>
          <a:bodyPr wrap="square" lIns="0" rIns="0" tIns="0" bIns="0" anchor="ctr">
            <a:spAutoFit/>
          </a:bodyPr>
          <a:lstStyle/>
          <a:p>
            <a:pPr algn="l"/>
            <a:r>
              <a:rPr sz="3200" b="1" i="0">
                <a:solidFill>
                  <a:srgbClr val="14171A"/>
                </a:solidFill>
                <a:latin typeface="Arial"/>
              </a:rPr>
              <a:t>Predict the change in pace, not the lap time</a:t>
            </a:r>
          </a:p>
        </p:txBody>
      </p:sp>
      <p:sp>
        <p:nvSpPr>
          <p:cNvPr id="4" name="TextBox 3"/>
          <p:cNvSpPr txBox="1"/>
          <p:nvPr/>
        </p:nvSpPr>
        <p:spPr>
          <a:xfrm>
            <a:off x="548640" y="6382512"/>
            <a:ext cx="5486400" cy="237744"/>
          </a:xfrm>
          <a:prstGeom prst="rect">
            <a:avLst/>
          </a:prstGeom>
          <a:noFill/>
        </p:spPr>
        <p:txBody>
          <a:bodyPr wrap="square" lIns="0" rIns="0" tIns="0" bIns="0" anchor="t">
            <a:spAutoFit/>
          </a:bodyPr>
          <a:lstStyle/>
          <a:p>
            <a:pPr algn="l"/>
            <a:r>
              <a:rPr sz="1000" b="0" i="0">
                <a:solidFill>
                  <a:srgbClr val="5B6168"/>
                </a:solidFill>
                <a:latin typeface="Calibri"/>
              </a:rPr>
              <a:t>F1 Race Strategy Simulator</a:t>
            </a:r>
          </a:p>
        </p:txBody>
      </p:sp>
      <p:sp>
        <p:nvSpPr>
          <p:cNvPr id="5" name="TextBox 4"/>
          <p:cNvSpPr txBox="1"/>
          <p:nvPr/>
        </p:nvSpPr>
        <p:spPr>
          <a:xfrm>
            <a:off x="10725912" y="6382512"/>
            <a:ext cx="914400" cy="237744"/>
          </a:xfrm>
          <a:prstGeom prst="rect">
            <a:avLst/>
          </a:prstGeom>
          <a:noFill/>
        </p:spPr>
        <p:txBody>
          <a:bodyPr wrap="square" lIns="0" rIns="0" tIns="0" bIns="0" anchor="t">
            <a:spAutoFit/>
          </a:bodyPr>
          <a:lstStyle/>
          <a:p>
            <a:pPr algn="r"/>
            <a:r>
              <a:rPr sz="1000" b="0" i="0">
                <a:solidFill>
                  <a:srgbClr val="5B6168"/>
                </a:solidFill>
                <a:latin typeface="Calibri"/>
              </a:rPr>
              <a:t>4</a:t>
            </a:r>
          </a:p>
        </p:txBody>
      </p:sp>
      <p:sp>
        <p:nvSpPr>
          <p:cNvPr id="6" name="Rounded Rectangle 5"/>
          <p:cNvSpPr/>
          <p:nvPr/>
        </p:nvSpPr>
        <p:spPr>
          <a:xfrm>
            <a:off x="548640" y="1783080"/>
            <a:ext cx="5029200" cy="4069080"/>
          </a:xfrm>
          <a:prstGeom prst="roundRect">
            <a:avLst>
              <a:gd name="adj" fmla="val 3146"/>
            </a:avLst>
          </a:prstGeom>
          <a:solidFill>
            <a:srgbClr val="1417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68680" y="2011680"/>
            <a:ext cx="4389120" cy="274320"/>
          </a:xfrm>
          <a:prstGeom prst="rect">
            <a:avLst/>
          </a:prstGeom>
          <a:noFill/>
        </p:spPr>
        <p:txBody>
          <a:bodyPr wrap="square" lIns="0" rIns="0" tIns="0" bIns="0" anchor="t">
            <a:spAutoFit/>
          </a:bodyPr>
          <a:lstStyle/>
          <a:p>
            <a:pPr algn="l"/>
            <a:r>
              <a:rPr sz="1200" b="1" i="0">
                <a:solidFill>
                  <a:srgbClr val="E10600"/>
                </a:solidFill>
                <a:latin typeface="Arial"/>
              </a:rPr>
              <a:t>TARGET</a:t>
            </a:r>
          </a:p>
        </p:txBody>
      </p:sp>
      <p:sp>
        <p:nvSpPr>
          <p:cNvPr id="8" name="TextBox 7"/>
          <p:cNvSpPr txBox="1"/>
          <p:nvPr/>
        </p:nvSpPr>
        <p:spPr>
          <a:xfrm>
            <a:off x="868680" y="2377440"/>
            <a:ext cx="4389120" cy="914400"/>
          </a:xfrm>
          <a:prstGeom prst="rect">
            <a:avLst/>
          </a:prstGeom>
          <a:noFill/>
        </p:spPr>
        <p:txBody>
          <a:bodyPr wrap="square" lIns="0" rIns="0" tIns="0" bIns="0" anchor="t">
            <a:spAutoFit/>
          </a:bodyPr>
          <a:lstStyle/>
          <a:p>
            <a:pPr algn="l"/>
            <a:r>
              <a:rPr sz="2000" b="1" i="0">
                <a:solidFill>
                  <a:srgbClr val="FFFFFF"/>
                </a:solidFill>
                <a:latin typeface="Arial"/>
              </a:rPr>
              <a:t>delta % =</a:t>
            </a:r>
          </a:p>
          <a:p>
            <a:pPr algn="l"/>
            <a:r>
              <a:rPr sz="2000" b="1" i="0">
                <a:solidFill>
                  <a:srgbClr val="FFFFFF"/>
                </a:solidFill>
                <a:latin typeface="Arial"/>
              </a:rPr>
              <a:t>100 × (lap time ÷ baseline − 1)</a:t>
            </a:r>
          </a:p>
        </p:txBody>
      </p:sp>
      <p:sp>
        <p:nvSpPr>
          <p:cNvPr id="9" name="TextBox 8"/>
          <p:cNvSpPr txBox="1"/>
          <p:nvPr/>
        </p:nvSpPr>
        <p:spPr>
          <a:xfrm>
            <a:off x="868680" y="3383280"/>
            <a:ext cx="4389120" cy="2331720"/>
          </a:xfrm>
          <a:prstGeom prst="rect">
            <a:avLst/>
          </a:prstGeom>
          <a:noFill/>
        </p:spPr>
        <p:txBody>
          <a:bodyPr wrap="square" lIns="0" rIns="0" tIns="0" bIns="0" anchor="t">
            <a:spAutoFit/>
          </a:bodyPr>
          <a:lstStyle/>
          <a:p>
            <a:pPr algn="l"/>
            <a:r>
              <a:rPr sz="1500" b="0" i="0">
                <a:solidFill>
                  <a:srgbClr val="C9CDD2"/>
                </a:solidFill>
                <a:latin typeface="Calibri"/>
              </a:rPr>
              <a:t>Baseline = median of the driver's first clean laps (up to 8, between laps 2 and 12).</a:t>
            </a:r>
          </a:p>
          <a:p>
            <a:pPr algn="l">
              <a:spcBef>
                <a:spcPts val="1000"/>
              </a:spcBef>
            </a:pPr>
            <a:r>
              <a:rPr sz="1500" b="0" i="0">
                <a:solidFill>
                  <a:srgbClr val="C9CDD2"/>
                </a:solidFill>
                <a:latin typeface="Calibri"/>
              </a:rPr>
              <a:t>It is known a few laps into the race, so predicting later laps from it uses no future information.</a:t>
            </a:r>
          </a:p>
          <a:p>
            <a:pPr algn="l">
              <a:spcBef>
                <a:spcPts val="1000"/>
              </a:spcBef>
            </a:pPr>
            <a:r>
              <a:rPr sz="1500" b="0" i="0">
                <a:solidFill>
                  <a:srgbClr val="C9CDD2"/>
                </a:solidFill>
                <a:latin typeface="Calibri"/>
              </a:rPr>
              <a:t>Example: at a 90 s baseline, a lap predicted at +1.2% is 91.08 s.</a:t>
            </a:r>
          </a:p>
        </p:txBody>
      </p:sp>
      <p:sp>
        <p:nvSpPr>
          <p:cNvPr id="10" name="Rounded Rectangle 9"/>
          <p:cNvSpPr/>
          <p:nvPr/>
        </p:nvSpPr>
        <p:spPr>
          <a:xfrm>
            <a:off x="5943600" y="1783080"/>
            <a:ext cx="2715768" cy="1225296"/>
          </a:xfrm>
          <a:prstGeom prst="roundRect">
            <a:avLst>
              <a:gd name="adj" fmla="val 8000"/>
            </a:avLst>
          </a:prstGeom>
          <a:solidFill>
            <a:srgbClr val="F2F3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144768" y="1947672"/>
            <a:ext cx="2331720" cy="320040"/>
          </a:xfrm>
          <a:prstGeom prst="rect">
            <a:avLst/>
          </a:prstGeom>
          <a:noFill/>
        </p:spPr>
        <p:txBody>
          <a:bodyPr wrap="square" lIns="0" rIns="0" tIns="0" bIns="0" anchor="t">
            <a:spAutoFit/>
          </a:bodyPr>
          <a:lstStyle/>
          <a:p>
            <a:pPr algn="l"/>
            <a:r>
              <a:rPr sz="1600" b="1" i="0">
                <a:solidFill>
                  <a:srgbClr val="14171A"/>
                </a:solidFill>
                <a:latin typeface="Arial"/>
              </a:rPr>
              <a:t>Tyre age</a:t>
            </a:r>
          </a:p>
        </p:txBody>
      </p:sp>
      <p:sp>
        <p:nvSpPr>
          <p:cNvPr id="12" name="TextBox 11"/>
          <p:cNvSpPr txBox="1"/>
          <p:nvPr/>
        </p:nvSpPr>
        <p:spPr>
          <a:xfrm>
            <a:off x="6144768" y="2331720"/>
            <a:ext cx="2331720" cy="594360"/>
          </a:xfrm>
          <a:prstGeom prst="rect">
            <a:avLst/>
          </a:prstGeom>
          <a:noFill/>
        </p:spPr>
        <p:txBody>
          <a:bodyPr wrap="square" lIns="0" rIns="0" tIns="0" bIns="0" anchor="t">
            <a:spAutoFit/>
          </a:bodyPr>
          <a:lstStyle/>
          <a:p>
            <a:pPr algn="l"/>
            <a:r>
              <a:rPr sz="1400" b="0" i="0">
                <a:solidFill>
                  <a:srgbClr val="5B6168"/>
                </a:solidFill>
                <a:latin typeface="Calibri"/>
              </a:rPr>
              <a:t>Laps completed on the current set</a:t>
            </a:r>
          </a:p>
        </p:txBody>
      </p:sp>
      <p:sp>
        <p:nvSpPr>
          <p:cNvPr id="13" name="Rounded Rectangle 12"/>
          <p:cNvSpPr/>
          <p:nvPr/>
        </p:nvSpPr>
        <p:spPr>
          <a:xfrm>
            <a:off x="8842248" y="1783080"/>
            <a:ext cx="2715768" cy="1225296"/>
          </a:xfrm>
          <a:prstGeom prst="roundRect">
            <a:avLst>
              <a:gd name="adj" fmla="val 8000"/>
            </a:avLst>
          </a:prstGeom>
          <a:solidFill>
            <a:srgbClr val="F2F3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043416" y="1947672"/>
            <a:ext cx="2331720" cy="320040"/>
          </a:xfrm>
          <a:prstGeom prst="rect">
            <a:avLst/>
          </a:prstGeom>
          <a:noFill/>
        </p:spPr>
        <p:txBody>
          <a:bodyPr wrap="square" lIns="0" rIns="0" tIns="0" bIns="0" anchor="t">
            <a:spAutoFit/>
          </a:bodyPr>
          <a:lstStyle/>
          <a:p>
            <a:pPr algn="l"/>
            <a:r>
              <a:rPr sz="1600" b="1" i="0">
                <a:solidFill>
                  <a:srgbClr val="14171A"/>
                </a:solidFill>
                <a:latin typeface="Arial"/>
              </a:rPr>
              <a:t>Compound</a:t>
            </a:r>
          </a:p>
        </p:txBody>
      </p:sp>
      <p:sp>
        <p:nvSpPr>
          <p:cNvPr id="15" name="TextBox 14"/>
          <p:cNvSpPr txBox="1"/>
          <p:nvPr/>
        </p:nvSpPr>
        <p:spPr>
          <a:xfrm>
            <a:off x="9043416" y="2331720"/>
            <a:ext cx="2331720" cy="594360"/>
          </a:xfrm>
          <a:prstGeom prst="rect">
            <a:avLst/>
          </a:prstGeom>
          <a:noFill/>
        </p:spPr>
        <p:txBody>
          <a:bodyPr wrap="square" lIns="0" rIns="0" tIns="0" bIns="0" anchor="t">
            <a:spAutoFit/>
          </a:bodyPr>
          <a:lstStyle/>
          <a:p>
            <a:pPr algn="l"/>
            <a:r>
              <a:rPr sz="1400" b="0" i="0">
                <a:solidFill>
                  <a:srgbClr val="5B6168"/>
                </a:solidFill>
                <a:latin typeface="Calibri"/>
              </a:rPr>
              <a:t>Soft, medium or hard</a:t>
            </a:r>
          </a:p>
        </p:txBody>
      </p:sp>
      <p:sp>
        <p:nvSpPr>
          <p:cNvPr id="16" name="Rounded Rectangle 15"/>
          <p:cNvSpPr/>
          <p:nvPr/>
        </p:nvSpPr>
        <p:spPr>
          <a:xfrm>
            <a:off x="5943600" y="3172968"/>
            <a:ext cx="2715768" cy="1225296"/>
          </a:xfrm>
          <a:prstGeom prst="roundRect">
            <a:avLst>
              <a:gd name="adj" fmla="val 8000"/>
            </a:avLst>
          </a:prstGeom>
          <a:solidFill>
            <a:srgbClr val="F2F3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144768" y="3337560"/>
            <a:ext cx="2331720" cy="320040"/>
          </a:xfrm>
          <a:prstGeom prst="rect">
            <a:avLst/>
          </a:prstGeom>
          <a:noFill/>
        </p:spPr>
        <p:txBody>
          <a:bodyPr wrap="square" lIns="0" rIns="0" tIns="0" bIns="0" anchor="t">
            <a:spAutoFit/>
          </a:bodyPr>
          <a:lstStyle/>
          <a:p>
            <a:pPr algn="l"/>
            <a:r>
              <a:rPr sz="1600" b="1" i="0">
                <a:solidFill>
                  <a:srgbClr val="14171A"/>
                </a:solidFill>
                <a:latin typeface="Arial"/>
              </a:rPr>
              <a:t>Fuel burned</a:t>
            </a:r>
          </a:p>
        </p:txBody>
      </p:sp>
      <p:sp>
        <p:nvSpPr>
          <p:cNvPr id="18" name="TextBox 17"/>
          <p:cNvSpPr txBox="1"/>
          <p:nvPr/>
        </p:nvSpPr>
        <p:spPr>
          <a:xfrm>
            <a:off x="6144768" y="3721607"/>
            <a:ext cx="2331720" cy="594360"/>
          </a:xfrm>
          <a:prstGeom prst="rect">
            <a:avLst/>
          </a:prstGeom>
          <a:noFill/>
        </p:spPr>
        <p:txBody>
          <a:bodyPr wrap="square" lIns="0" rIns="0" tIns="0" bIns="0" anchor="t">
            <a:spAutoFit/>
          </a:bodyPr>
          <a:lstStyle/>
          <a:p>
            <a:pPr algn="l"/>
            <a:r>
              <a:rPr sz="1400" b="0" i="0">
                <a:solidFill>
                  <a:srgbClr val="5B6168"/>
                </a:solidFill>
                <a:latin typeface="Calibri"/>
              </a:rPr>
              <a:t>Share of race distance since the baseline</a:t>
            </a:r>
          </a:p>
        </p:txBody>
      </p:sp>
      <p:sp>
        <p:nvSpPr>
          <p:cNvPr id="19" name="Rounded Rectangle 18"/>
          <p:cNvSpPr/>
          <p:nvPr/>
        </p:nvSpPr>
        <p:spPr>
          <a:xfrm>
            <a:off x="8842248" y="3172968"/>
            <a:ext cx="2715768" cy="1225296"/>
          </a:xfrm>
          <a:prstGeom prst="roundRect">
            <a:avLst>
              <a:gd name="adj" fmla="val 8000"/>
            </a:avLst>
          </a:prstGeom>
          <a:solidFill>
            <a:srgbClr val="F2F3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043416" y="3337560"/>
            <a:ext cx="2331720" cy="320040"/>
          </a:xfrm>
          <a:prstGeom prst="rect">
            <a:avLst/>
          </a:prstGeom>
          <a:noFill/>
        </p:spPr>
        <p:txBody>
          <a:bodyPr wrap="square" lIns="0" rIns="0" tIns="0" bIns="0" anchor="t">
            <a:spAutoFit/>
          </a:bodyPr>
          <a:lstStyle/>
          <a:p>
            <a:pPr algn="l"/>
            <a:r>
              <a:rPr sz="1600" b="1" i="0">
                <a:solidFill>
                  <a:srgbClr val="14171A"/>
                </a:solidFill>
                <a:latin typeface="Arial"/>
              </a:rPr>
              <a:t>Race progress</a:t>
            </a:r>
          </a:p>
        </p:txBody>
      </p:sp>
      <p:sp>
        <p:nvSpPr>
          <p:cNvPr id="21" name="TextBox 20"/>
          <p:cNvSpPr txBox="1"/>
          <p:nvPr/>
        </p:nvSpPr>
        <p:spPr>
          <a:xfrm>
            <a:off x="9043416" y="3721607"/>
            <a:ext cx="2331720" cy="594360"/>
          </a:xfrm>
          <a:prstGeom prst="rect">
            <a:avLst/>
          </a:prstGeom>
          <a:noFill/>
        </p:spPr>
        <p:txBody>
          <a:bodyPr wrap="square" lIns="0" rIns="0" tIns="0" bIns="0" anchor="t">
            <a:spAutoFit/>
          </a:bodyPr>
          <a:lstStyle/>
          <a:p>
            <a:pPr algn="l"/>
            <a:r>
              <a:rPr sz="1400" b="0" i="0">
                <a:solidFill>
                  <a:srgbClr val="5B6168"/>
                </a:solidFill>
                <a:latin typeface="Calibri"/>
              </a:rPr>
              <a:t>Share completed, and race length</a:t>
            </a:r>
          </a:p>
        </p:txBody>
      </p:sp>
      <p:sp>
        <p:nvSpPr>
          <p:cNvPr id="22" name="Rounded Rectangle 21"/>
          <p:cNvSpPr/>
          <p:nvPr/>
        </p:nvSpPr>
        <p:spPr>
          <a:xfrm>
            <a:off x="5943600" y="4562856"/>
            <a:ext cx="2715768" cy="1225296"/>
          </a:xfrm>
          <a:prstGeom prst="roundRect">
            <a:avLst>
              <a:gd name="adj" fmla="val 8000"/>
            </a:avLst>
          </a:prstGeom>
          <a:solidFill>
            <a:srgbClr val="F2F3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6144768" y="4727448"/>
            <a:ext cx="2331720" cy="320040"/>
          </a:xfrm>
          <a:prstGeom prst="rect">
            <a:avLst/>
          </a:prstGeom>
          <a:noFill/>
        </p:spPr>
        <p:txBody>
          <a:bodyPr wrap="square" lIns="0" rIns="0" tIns="0" bIns="0" anchor="t">
            <a:spAutoFit/>
          </a:bodyPr>
          <a:lstStyle/>
          <a:p>
            <a:pPr algn="l"/>
            <a:r>
              <a:rPr sz="1600" b="1" i="0">
                <a:solidFill>
                  <a:srgbClr val="14171A"/>
                </a:solidFill>
                <a:latin typeface="Arial"/>
              </a:rPr>
              <a:t>Baseline conditions</a:t>
            </a:r>
          </a:p>
        </p:txBody>
      </p:sp>
      <p:sp>
        <p:nvSpPr>
          <p:cNvPr id="24" name="TextBox 23"/>
          <p:cNvSpPr txBox="1"/>
          <p:nvPr/>
        </p:nvSpPr>
        <p:spPr>
          <a:xfrm>
            <a:off x="6144768" y="5111496"/>
            <a:ext cx="2331720" cy="594360"/>
          </a:xfrm>
          <a:prstGeom prst="rect">
            <a:avLst/>
          </a:prstGeom>
          <a:noFill/>
        </p:spPr>
        <p:txBody>
          <a:bodyPr wrap="square" lIns="0" rIns="0" tIns="0" bIns="0" anchor="t">
            <a:spAutoFit/>
          </a:bodyPr>
          <a:lstStyle/>
          <a:p>
            <a:pPr algn="l"/>
            <a:r>
              <a:rPr sz="1400" b="0" i="0">
                <a:solidFill>
                  <a:srgbClr val="5B6168"/>
                </a:solidFill>
                <a:latin typeface="Calibri"/>
              </a:rPr>
              <a:t>Tyre and track temperature when pace was set</a:t>
            </a:r>
          </a:p>
        </p:txBody>
      </p:sp>
      <p:sp>
        <p:nvSpPr>
          <p:cNvPr id="25" name="Rounded Rectangle 24"/>
          <p:cNvSpPr/>
          <p:nvPr/>
        </p:nvSpPr>
        <p:spPr>
          <a:xfrm>
            <a:off x="8842248" y="4562856"/>
            <a:ext cx="2715768" cy="1225296"/>
          </a:xfrm>
          <a:prstGeom prst="roundRect">
            <a:avLst>
              <a:gd name="adj" fmla="val 8000"/>
            </a:avLst>
          </a:prstGeom>
          <a:solidFill>
            <a:srgbClr val="F2F3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9043416" y="4727448"/>
            <a:ext cx="2331720" cy="320040"/>
          </a:xfrm>
          <a:prstGeom prst="rect">
            <a:avLst/>
          </a:prstGeom>
          <a:noFill/>
        </p:spPr>
        <p:txBody>
          <a:bodyPr wrap="square" lIns="0" rIns="0" tIns="0" bIns="0" anchor="t">
            <a:spAutoFit/>
          </a:bodyPr>
          <a:lstStyle/>
          <a:p>
            <a:pPr algn="l"/>
            <a:r>
              <a:rPr sz="1600" b="1" i="0">
                <a:solidFill>
                  <a:srgbClr val="14171A"/>
                </a:solidFill>
                <a:latin typeface="Arial"/>
              </a:rPr>
              <a:t>Circuit</a:t>
            </a:r>
          </a:p>
        </p:txBody>
      </p:sp>
      <p:sp>
        <p:nvSpPr>
          <p:cNvPr id="27" name="TextBox 26"/>
          <p:cNvSpPr txBox="1"/>
          <p:nvPr/>
        </p:nvSpPr>
        <p:spPr>
          <a:xfrm>
            <a:off x="9043416" y="5111496"/>
            <a:ext cx="2331720" cy="594360"/>
          </a:xfrm>
          <a:prstGeom prst="rect">
            <a:avLst/>
          </a:prstGeom>
          <a:noFill/>
        </p:spPr>
        <p:txBody>
          <a:bodyPr wrap="square" lIns="0" rIns="0" tIns="0" bIns="0" anchor="t">
            <a:spAutoFit/>
          </a:bodyPr>
          <a:lstStyle/>
          <a:p>
            <a:pPr algn="l"/>
            <a:r>
              <a:rPr sz="1400" b="0" i="0">
                <a:solidFill>
                  <a:srgbClr val="5B6168"/>
                </a:solidFill>
                <a:latin typeface="Calibri"/>
              </a:rPr>
              <a:t>Venue, as a category</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84048"/>
            <a:ext cx="8229600" cy="274320"/>
          </a:xfrm>
          <a:prstGeom prst="rect">
            <a:avLst/>
          </a:prstGeom>
          <a:noFill/>
        </p:spPr>
        <p:txBody>
          <a:bodyPr wrap="square" lIns="0" rIns="0" tIns="0" bIns="0" anchor="t">
            <a:spAutoFit/>
          </a:bodyPr>
          <a:lstStyle/>
          <a:p>
            <a:pPr algn="l"/>
            <a:r>
              <a:rPr sz="1200" b="1" i="0">
                <a:solidFill>
                  <a:srgbClr val="E10600"/>
                </a:solidFill>
                <a:latin typeface="Arial"/>
              </a:rPr>
              <a:t>MODEL COMPARISON</a:t>
            </a:r>
          </a:p>
        </p:txBody>
      </p:sp>
      <p:sp>
        <p:nvSpPr>
          <p:cNvPr id="3" name="TextBox 2"/>
          <p:cNvSpPr txBox="1"/>
          <p:nvPr/>
        </p:nvSpPr>
        <p:spPr>
          <a:xfrm>
            <a:off x="548640" y="676656"/>
            <a:ext cx="11064240" cy="685800"/>
          </a:xfrm>
          <a:prstGeom prst="rect">
            <a:avLst/>
          </a:prstGeom>
          <a:noFill/>
        </p:spPr>
        <p:txBody>
          <a:bodyPr wrap="square" lIns="0" rIns="0" tIns="0" bIns="0" anchor="ctr">
            <a:spAutoFit/>
          </a:bodyPr>
          <a:lstStyle/>
          <a:p>
            <a:pPr algn="l"/>
            <a:r>
              <a:rPr sz="3200" b="1" i="0">
                <a:solidFill>
                  <a:srgbClr val="14171A"/>
                </a:solidFill>
                <a:latin typeface="Arial"/>
              </a:rPr>
              <a:t>Small boosted trees narrowly beat linear regression</a:t>
            </a:r>
          </a:p>
        </p:txBody>
      </p:sp>
      <p:sp>
        <p:nvSpPr>
          <p:cNvPr id="4" name="TextBox 3"/>
          <p:cNvSpPr txBox="1"/>
          <p:nvPr/>
        </p:nvSpPr>
        <p:spPr>
          <a:xfrm>
            <a:off x="548640" y="6382512"/>
            <a:ext cx="5486400" cy="237744"/>
          </a:xfrm>
          <a:prstGeom prst="rect">
            <a:avLst/>
          </a:prstGeom>
          <a:noFill/>
        </p:spPr>
        <p:txBody>
          <a:bodyPr wrap="square" lIns="0" rIns="0" tIns="0" bIns="0" anchor="t">
            <a:spAutoFit/>
          </a:bodyPr>
          <a:lstStyle/>
          <a:p>
            <a:pPr algn="l"/>
            <a:r>
              <a:rPr sz="1000" b="0" i="0">
                <a:solidFill>
                  <a:srgbClr val="5B6168"/>
                </a:solidFill>
                <a:latin typeface="Calibri"/>
              </a:rPr>
              <a:t>F1 Race Strategy Simulator</a:t>
            </a:r>
          </a:p>
        </p:txBody>
      </p:sp>
      <p:sp>
        <p:nvSpPr>
          <p:cNvPr id="5" name="TextBox 4"/>
          <p:cNvSpPr txBox="1"/>
          <p:nvPr/>
        </p:nvSpPr>
        <p:spPr>
          <a:xfrm>
            <a:off x="10725912" y="6382512"/>
            <a:ext cx="914400" cy="237744"/>
          </a:xfrm>
          <a:prstGeom prst="rect">
            <a:avLst/>
          </a:prstGeom>
          <a:noFill/>
        </p:spPr>
        <p:txBody>
          <a:bodyPr wrap="square" lIns="0" rIns="0" tIns="0" bIns="0" anchor="t">
            <a:spAutoFit/>
          </a:bodyPr>
          <a:lstStyle/>
          <a:p>
            <a:pPr algn="r"/>
            <a:r>
              <a:rPr sz="1000" b="0" i="0">
                <a:solidFill>
                  <a:srgbClr val="5B6168"/>
                </a:solidFill>
                <a:latin typeface="Calibri"/>
              </a:rPr>
              <a:t>5</a:t>
            </a:r>
          </a:p>
        </p:txBody>
      </p:sp>
      <p:graphicFrame>
        <p:nvGraphicFramePr>
          <p:cNvPr id="6" name="Chart 5"/>
          <p:cNvGraphicFramePr>
            <a:graphicFrameLocks noGrp="1"/>
          </p:cNvGraphicFramePr>
          <p:nvPr/>
        </p:nvGraphicFramePr>
        <p:xfrm>
          <a:off x="548640" y="2011680"/>
          <a:ext cx="6858000" cy="3840480"/>
        </p:xfrm>
        <a:graphic>
          <a:graphicData uri="http://schemas.openxmlformats.org/drawingml/2006/chart">
            <c:chart xmlns:c="http://schemas.openxmlformats.org/drawingml/2006/chart" r:id="rId3"/>
          </a:graphicData>
        </a:graphic>
      </p:graphicFrame>
      <p:sp>
        <p:nvSpPr>
          <p:cNvPr id="7" name="TextBox 6"/>
          <p:cNvSpPr txBox="1"/>
          <p:nvPr/>
        </p:nvSpPr>
        <p:spPr>
          <a:xfrm>
            <a:off x="548640" y="1645920"/>
            <a:ext cx="6858000" cy="320040"/>
          </a:xfrm>
          <a:prstGeom prst="rect">
            <a:avLst/>
          </a:prstGeom>
          <a:noFill/>
        </p:spPr>
        <p:txBody>
          <a:bodyPr wrap="square" lIns="0" rIns="0" tIns="0" bIns="0" anchor="t">
            <a:spAutoFit/>
          </a:bodyPr>
          <a:lstStyle/>
          <a:p>
            <a:pPr algn="l"/>
            <a:r>
              <a:rPr sz="1400" b="1" i="0">
                <a:solidFill>
                  <a:srgbClr val="14171A"/>
                </a:solidFill>
                <a:latin typeface="Calibri"/>
              </a:rPr>
              <a:t>Validation RMSE, seconds per lap (2024 season)</a:t>
            </a:r>
          </a:p>
        </p:txBody>
      </p:sp>
      <p:sp>
        <p:nvSpPr>
          <p:cNvPr id="8" name="Rounded Rectangle 7"/>
          <p:cNvSpPr/>
          <p:nvPr/>
        </p:nvSpPr>
        <p:spPr>
          <a:xfrm>
            <a:off x="7772400" y="1783080"/>
            <a:ext cx="3867912" cy="4069080"/>
          </a:xfrm>
          <a:prstGeom prst="roundRect">
            <a:avLst>
              <a:gd name="adj" fmla="val 3146"/>
            </a:avLst>
          </a:prstGeom>
          <a:solidFill>
            <a:srgbClr val="F2F3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065008" y="2011680"/>
            <a:ext cx="3291840" cy="365760"/>
          </a:xfrm>
          <a:prstGeom prst="rect">
            <a:avLst/>
          </a:prstGeom>
          <a:noFill/>
        </p:spPr>
        <p:txBody>
          <a:bodyPr wrap="square" lIns="0" rIns="0" tIns="0" bIns="0" anchor="t">
            <a:spAutoFit/>
          </a:bodyPr>
          <a:lstStyle/>
          <a:p>
            <a:pPr algn="l"/>
            <a:r>
              <a:rPr sz="1800" b="1" i="0">
                <a:solidFill>
                  <a:srgbClr val="14171A"/>
                </a:solidFill>
                <a:latin typeface="Arial"/>
              </a:rPr>
              <a:t>What the comparison shows</a:t>
            </a:r>
          </a:p>
        </p:txBody>
      </p:sp>
      <p:sp>
        <p:nvSpPr>
          <p:cNvPr id="10" name="TextBox 9"/>
          <p:cNvSpPr txBox="1"/>
          <p:nvPr/>
        </p:nvSpPr>
        <p:spPr>
          <a:xfrm>
            <a:off x="8065008" y="2560320"/>
            <a:ext cx="3291840" cy="3200400"/>
          </a:xfrm>
          <a:prstGeom prst="rect">
            <a:avLst/>
          </a:prstGeom>
          <a:noFill/>
        </p:spPr>
        <p:txBody>
          <a:bodyPr wrap="square" lIns="0" rIns="0" tIns="0" bIns="0" anchor="t">
            <a:spAutoFit/>
          </a:bodyPr>
          <a:lstStyle/>
          <a:p>
            <a:pPr algn="l"/>
            <a:r>
              <a:rPr sz="1500" b="0" i="0">
                <a:solidFill>
                  <a:srgbClr val="1E2226"/>
                </a:solidFill>
                <a:latin typeface="Calibri"/>
              </a:rPr>
              <a:t>Gradient boosting: 0.80 s per lap, selected.</a:t>
            </a:r>
          </a:p>
          <a:p>
            <a:pPr algn="l">
              <a:spcBef>
                <a:spcPts val="1100"/>
              </a:spcBef>
            </a:pPr>
            <a:r>
              <a:rPr sz="1500" b="0" i="0">
                <a:solidFill>
                  <a:srgbClr val="1E2226"/>
                </a:solidFill>
                <a:latin typeface="Calibri"/>
              </a:rPr>
              <a:t>Linear regression: 0.82 s. The gap is about 3%.</a:t>
            </a:r>
          </a:p>
          <a:p>
            <a:pPr algn="l">
              <a:spcBef>
                <a:spcPts val="1100"/>
              </a:spcBef>
            </a:pPr>
            <a:r>
              <a:rPr sz="1500" b="0" i="0">
                <a:solidFill>
                  <a:srgbClr val="1E2226"/>
                </a:solidFill>
                <a:latin typeface="Calibri"/>
              </a:rPr>
              <a:t>Assuming pace never changes: 1.55 s.</a:t>
            </a:r>
          </a:p>
          <a:p>
            <a:pPr algn="l">
              <a:spcBef>
                <a:spcPts val="1100"/>
              </a:spcBef>
            </a:pPr>
            <a:r>
              <a:rPr sz="1500" b="0" i="0">
                <a:solidFill>
                  <a:srgbClr val="1E2226"/>
                </a:solidFill>
                <a:latin typeface="Calibri"/>
              </a:rPr>
              <a:t>Trees with 31 leaves fitted race-specific noise and lost to linear regression. Trees with 4 leaves won.</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84048"/>
            <a:ext cx="8229600" cy="274320"/>
          </a:xfrm>
          <a:prstGeom prst="rect">
            <a:avLst/>
          </a:prstGeom>
          <a:noFill/>
        </p:spPr>
        <p:txBody>
          <a:bodyPr wrap="square" lIns="0" rIns="0" tIns="0" bIns="0" anchor="t">
            <a:spAutoFit/>
          </a:bodyPr>
          <a:lstStyle/>
          <a:p>
            <a:pPr algn="l"/>
            <a:r>
              <a:rPr sz="1200" b="1" i="0">
                <a:solidFill>
                  <a:srgbClr val="E10600"/>
                </a:solidFill>
                <a:latin typeface="Arial"/>
              </a:rPr>
              <a:t>TEST SEASON</a:t>
            </a:r>
          </a:p>
        </p:txBody>
      </p:sp>
      <p:sp>
        <p:nvSpPr>
          <p:cNvPr id="3" name="TextBox 2"/>
          <p:cNvSpPr txBox="1"/>
          <p:nvPr/>
        </p:nvSpPr>
        <p:spPr>
          <a:xfrm>
            <a:off x="548640" y="676656"/>
            <a:ext cx="11064240" cy="685800"/>
          </a:xfrm>
          <a:prstGeom prst="rect">
            <a:avLst/>
          </a:prstGeom>
          <a:noFill/>
        </p:spPr>
        <p:txBody>
          <a:bodyPr wrap="square" lIns="0" rIns="0" tIns="0" bIns="0" anchor="ctr">
            <a:spAutoFit/>
          </a:bodyPr>
          <a:lstStyle/>
          <a:p>
            <a:pPr algn="l"/>
            <a:r>
              <a:rPr sz="3200" b="1" i="0">
                <a:solidFill>
                  <a:srgbClr val="14171A"/>
                </a:solidFill>
                <a:latin typeface="Arial"/>
              </a:rPr>
              <a:t>On the unseen 2025 season the lap error is nearly halved</a:t>
            </a:r>
          </a:p>
        </p:txBody>
      </p:sp>
      <p:sp>
        <p:nvSpPr>
          <p:cNvPr id="4" name="TextBox 3"/>
          <p:cNvSpPr txBox="1"/>
          <p:nvPr/>
        </p:nvSpPr>
        <p:spPr>
          <a:xfrm>
            <a:off x="548640" y="6382512"/>
            <a:ext cx="5486400" cy="237744"/>
          </a:xfrm>
          <a:prstGeom prst="rect">
            <a:avLst/>
          </a:prstGeom>
          <a:noFill/>
        </p:spPr>
        <p:txBody>
          <a:bodyPr wrap="square" lIns="0" rIns="0" tIns="0" bIns="0" anchor="t">
            <a:spAutoFit/>
          </a:bodyPr>
          <a:lstStyle/>
          <a:p>
            <a:pPr algn="l"/>
            <a:r>
              <a:rPr sz="1000" b="0" i="0">
                <a:solidFill>
                  <a:srgbClr val="5B6168"/>
                </a:solidFill>
                <a:latin typeface="Calibri"/>
              </a:rPr>
              <a:t>F1 Race Strategy Simulator</a:t>
            </a:r>
          </a:p>
        </p:txBody>
      </p:sp>
      <p:sp>
        <p:nvSpPr>
          <p:cNvPr id="5" name="TextBox 4"/>
          <p:cNvSpPr txBox="1"/>
          <p:nvPr/>
        </p:nvSpPr>
        <p:spPr>
          <a:xfrm>
            <a:off x="10725912" y="6382512"/>
            <a:ext cx="914400" cy="237744"/>
          </a:xfrm>
          <a:prstGeom prst="rect">
            <a:avLst/>
          </a:prstGeom>
          <a:noFill/>
        </p:spPr>
        <p:txBody>
          <a:bodyPr wrap="square" lIns="0" rIns="0" tIns="0" bIns="0" anchor="t">
            <a:spAutoFit/>
          </a:bodyPr>
          <a:lstStyle/>
          <a:p>
            <a:pPr algn="r"/>
            <a:r>
              <a:rPr sz="1000" b="0" i="0">
                <a:solidFill>
                  <a:srgbClr val="5B6168"/>
                </a:solidFill>
                <a:latin typeface="Calibri"/>
              </a:rPr>
              <a:t>6</a:t>
            </a:r>
          </a:p>
        </p:txBody>
      </p:sp>
      <p:sp>
        <p:nvSpPr>
          <p:cNvPr id="6" name="Rounded Rectangle 5"/>
          <p:cNvSpPr/>
          <p:nvPr/>
        </p:nvSpPr>
        <p:spPr>
          <a:xfrm>
            <a:off x="548640" y="1783080"/>
            <a:ext cx="2057400" cy="1920240"/>
          </a:xfrm>
          <a:prstGeom prst="roundRect">
            <a:avLst>
              <a:gd name="adj" fmla="val 6666"/>
            </a:avLst>
          </a:prstGeom>
          <a:solidFill>
            <a:srgbClr val="F2F3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04672" y="2002536"/>
            <a:ext cx="1545336" cy="868680"/>
          </a:xfrm>
          <a:prstGeom prst="rect">
            <a:avLst/>
          </a:prstGeom>
          <a:noFill/>
        </p:spPr>
        <p:txBody>
          <a:bodyPr wrap="square" lIns="0" rIns="0" tIns="0" bIns="0" anchor="ctr">
            <a:spAutoFit/>
          </a:bodyPr>
          <a:lstStyle/>
          <a:p>
            <a:pPr algn="l"/>
            <a:r>
              <a:rPr sz="3200" b="1" i="0">
                <a:solidFill>
                  <a:srgbClr val="E10600"/>
                </a:solidFill>
                <a:latin typeface="Arial"/>
              </a:rPr>
              <a:t>0.83 s</a:t>
            </a:r>
          </a:p>
        </p:txBody>
      </p:sp>
      <p:sp>
        <p:nvSpPr>
          <p:cNvPr id="8" name="TextBox 7"/>
          <p:cNvSpPr txBox="1"/>
          <p:nvPr/>
        </p:nvSpPr>
        <p:spPr>
          <a:xfrm>
            <a:off x="804672" y="2953512"/>
            <a:ext cx="1545336" cy="594360"/>
          </a:xfrm>
          <a:prstGeom prst="rect">
            <a:avLst/>
          </a:prstGeom>
          <a:noFill/>
        </p:spPr>
        <p:txBody>
          <a:bodyPr wrap="square" lIns="0" rIns="0" tIns="0" bIns="0" anchor="t">
            <a:spAutoFit/>
          </a:bodyPr>
          <a:lstStyle/>
          <a:p>
            <a:pPr algn="l"/>
            <a:r>
              <a:rPr sz="1400" b="0" i="0">
                <a:solidFill>
                  <a:srgbClr val="5B6168"/>
                </a:solidFill>
                <a:latin typeface="Calibri"/>
              </a:rPr>
              <a:t>Lap error (RMSE) with the model</a:t>
            </a:r>
          </a:p>
        </p:txBody>
      </p:sp>
      <p:sp>
        <p:nvSpPr>
          <p:cNvPr id="9" name="Rounded Rectangle 8"/>
          <p:cNvSpPr/>
          <p:nvPr/>
        </p:nvSpPr>
        <p:spPr>
          <a:xfrm>
            <a:off x="2788920" y="1783080"/>
            <a:ext cx="2057400" cy="1920240"/>
          </a:xfrm>
          <a:prstGeom prst="roundRect">
            <a:avLst>
              <a:gd name="adj" fmla="val 6666"/>
            </a:avLst>
          </a:prstGeom>
          <a:solidFill>
            <a:srgbClr val="F2F3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3044952" y="2002536"/>
            <a:ext cx="1545336" cy="868680"/>
          </a:xfrm>
          <a:prstGeom prst="rect">
            <a:avLst/>
          </a:prstGeom>
          <a:noFill/>
        </p:spPr>
        <p:txBody>
          <a:bodyPr wrap="square" lIns="0" rIns="0" tIns="0" bIns="0" anchor="ctr">
            <a:spAutoFit/>
          </a:bodyPr>
          <a:lstStyle/>
          <a:p>
            <a:pPr algn="l"/>
            <a:r>
              <a:rPr sz="3200" b="1" i="0">
                <a:solidFill>
                  <a:srgbClr val="14171A"/>
                </a:solidFill>
                <a:latin typeface="Arial"/>
              </a:rPr>
              <a:t>1.56 s</a:t>
            </a:r>
          </a:p>
        </p:txBody>
      </p:sp>
      <p:sp>
        <p:nvSpPr>
          <p:cNvPr id="11" name="TextBox 10"/>
          <p:cNvSpPr txBox="1"/>
          <p:nvPr/>
        </p:nvSpPr>
        <p:spPr>
          <a:xfrm>
            <a:off x="3044952" y="2953512"/>
            <a:ext cx="1545336" cy="594360"/>
          </a:xfrm>
          <a:prstGeom prst="rect">
            <a:avLst/>
          </a:prstGeom>
          <a:noFill/>
        </p:spPr>
        <p:txBody>
          <a:bodyPr wrap="square" lIns="0" rIns="0" tIns="0" bIns="0" anchor="t">
            <a:spAutoFit/>
          </a:bodyPr>
          <a:lstStyle/>
          <a:p>
            <a:pPr algn="l"/>
            <a:r>
              <a:rPr sz="1400" b="0" i="0">
                <a:solidFill>
                  <a:srgbClr val="5B6168"/>
                </a:solidFill>
                <a:latin typeface="Calibri"/>
              </a:rPr>
              <a:t>Lap error assuming constant pace</a:t>
            </a:r>
          </a:p>
        </p:txBody>
      </p:sp>
      <p:sp>
        <p:nvSpPr>
          <p:cNvPr id="12" name="Rounded Rectangle 11"/>
          <p:cNvSpPr/>
          <p:nvPr/>
        </p:nvSpPr>
        <p:spPr>
          <a:xfrm>
            <a:off x="548640" y="3840480"/>
            <a:ext cx="4297680" cy="2103120"/>
          </a:xfrm>
          <a:prstGeom prst="roundRect">
            <a:avLst>
              <a:gd name="adj" fmla="val 6086"/>
            </a:avLst>
          </a:prstGeom>
          <a:solidFill>
            <a:srgbClr val="F2F3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77240" y="3977639"/>
            <a:ext cx="3840480" cy="320040"/>
          </a:xfrm>
          <a:prstGeom prst="rect">
            <a:avLst/>
          </a:prstGeom>
          <a:noFill/>
        </p:spPr>
        <p:txBody>
          <a:bodyPr wrap="square" lIns="0" rIns="0" tIns="0" bIns="0" anchor="t">
            <a:spAutoFit/>
          </a:bodyPr>
          <a:lstStyle/>
          <a:p>
            <a:pPr algn="l"/>
            <a:r>
              <a:rPr sz="1500" b="1" i="0">
                <a:solidFill>
                  <a:srgbClr val="14171A"/>
                </a:solidFill>
                <a:latin typeface="Arial"/>
              </a:rPr>
              <a:t>Where the error sits (R² = 0.44)</a:t>
            </a:r>
          </a:p>
        </p:txBody>
      </p:sp>
      <p:sp>
        <p:nvSpPr>
          <p:cNvPr id="14" name="TextBox 13"/>
          <p:cNvSpPr txBox="1"/>
          <p:nvPr/>
        </p:nvSpPr>
        <p:spPr>
          <a:xfrm>
            <a:off x="777240" y="4370832"/>
            <a:ext cx="3886200" cy="1508760"/>
          </a:xfrm>
          <a:prstGeom prst="rect">
            <a:avLst/>
          </a:prstGeom>
          <a:noFill/>
        </p:spPr>
        <p:txBody>
          <a:bodyPr wrap="square" lIns="0" rIns="0" tIns="0" bIns="0" anchor="t">
            <a:spAutoFit/>
          </a:bodyPr>
          <a:lstStyle/>
          <a:p>
            <a:pPr algn="l"/>
            <a:r>
              <a:rPr sz="1400" b="0" i="0">
                <a:solidFill>
                  <a:srgbClr val="1E2226"/>
                </a:solidFill>
                <a:latin typeface="Calibri"/>
              </a:rPr>
              <a:t>Driver over a whole race: 0.55% of pace. Shifts every strategy equally.</a:t>
            </a:r>
          </a:p>
          <a:p>
            <a:pPr algn="l">
              <a:spcBef>
                <a:spcPts val="400"/>
              </a:spcBef>
            </a:pPr>
            <a:r>
              <a:rPr sz="1400" b="0" i="0">
                <a:solidFill>
                  <a:srgbClr val="1E2226"/>
                </a:solidFill>
                <a:latin typeface="Calibri"/>
              </a:rPr>
              <a:t>Stint within a race: 0.44%. This is what separates strategies.</a:t>
            </a:r>
          </a:p>
          <a:p>
            <a:pPr algn="l">
              <a:spcBef>
                <a:spcPts val="400"/>
              </a:spcBef>
            </a:pPr>
            <a:r>
              <a:rPr sz="1400" b="0" i="0">
                <a:solidFill>
                  <a:srgbClr val="1E2226"/>
                </a:solidFill>
                <a:latin typeface="Calibri"/>
              </a:rPr>
              <a:t>Single lap: 0.65%. Mostly averages out.</a:t>
            </a:r>
          </a:p>
        </p:txBody>
      </p:sp>
      <p:pic>
        <p:nvPicPr>
          <p:cNvPr id="15" name="Picture 14" descr="example_lap_trace.png"/>
          <p:cNvPicPr>
            <a:picLocks noChangeAspect="1"/>
          </p:cNvPicPr>
          <p:nvPr/>
        </p:nvPicPr>
        <p:blipFill>
          <a:blip r:embed="rId3"/>
          <a:stretch>
            <a:fillRect/>
          </a:stretch>
        </p:blipFill>
        <p:spPr>
          <a:xfrm>
            <a:off x="5212080" y="1783080"/>
            <a:ext cx="6428232" cy="3507823"/>
          </a:xfrm>
          <a:prstGeom prst="rect">
            <a:avLst/>
          </a:prstGeom>
        </p:spPr>
      </p:pic>
      <p:sp>
        <p:nvSpPr>
          <p:cNvPr id="16" name="TextBox 15"/>
          <p:cNvSpPr txBox="1"/>
          <p:nvPr/>
        </p:nvSpPr>
        <p:spPr>
          <a:xfrm>
            <a:off x="5212080" y="5394960"/>
            <a:ext cx="6428232" cy="365760"/>
          </a:xfrm>
          <a:prstGeom prst="rect">
            <a:avLst/>
          </a:prstGeom>
          <a:noFill/>
        </p:spPr>
        <p:txBody>
          <a:bodyPr wrap="square" lIns="0" rIns="0" tIns="0" bIns="0" anchor="t">
            <a:spAutoFit/>
          </a:bodyPr>
          <a:lstStyle/>
          <a:p>
            <a:pPr algn="l"/>
            <a:r>
              <a:rPr sz="1200" b="0" i="0">
                <a:solidFill>
                  <a:srgbClr val="5B6168"/>
                </a:solidFill>
                <a:latin typeface="Calibri"/>
              </a:rPr>
              <a:t>One driver's race, predicted from their first clean laps only.</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84048"/>
            <a:ext cx="8229600" cy="274320"/>
          </a:xfrm>
          <a:prstGeom prst="rect">
            <a:avLst/>
          </a:prstGeom>
          <a:noFill/>
        </p:spPr>
        <p:txBody>
          <a:bodyPr wrap="square" lIns="0" rIns="0" tIns="0" bIns="0" anchor="t">
            <a:spAutoFit/>
          </a:bodyPr>
          <a:lstStyle/>
          <a:p>
            <a:pPr algn="l"/>
            <a:r>
              <a:rPr sz="1200" b="1" i="0">
                <a:solidFill>
                  <a:srgbClr val="E10600"/>
                </a:solidFill>
                <a:latin typeface="Arial"/>
              </a:rPr>
              <a:t>SIMULATOR</a:t>
            </a:r>
          </a:p>
        </p:txBody>
      </p:sp>
      <p:sp>
        <p:nvSpPr>
          <p:cNvPr id="3" name="TextBox 2"/>
          <p:cNvSpPr txBox="1"/>
          <p:nvPr/>
        </p:nvSpPr>
        <p:spPr>
          <a:xfrm>
            <a:off x="548640" y="676656"/>
            <a:ext cx="11064240" cy="685800"/>
          </a:xfrm>
          <a:prstGeom prst="rect">
            <a:avLst/>
          </a:prstGeom>
          <a:noFill/>
        </p:spPr>
        <p:txBody>
          <a:bodyPr wrap="square" lIns="0" rIns="0" tIns="0" bIns="0" anchor="ctr">
            <a:spAutoFit/>
          </a:bodyPr>
          <a:lstStyle/>
          <a:p>
            <a:pPr algn="l"/>
            <a:r>
              <a:rPr sz="3200" b="1" i="0">
                <a:solidFill>
                  <a:srgbClr val="14171A"/>
                </a:solidFill>
                <a:latin typeface="Arial"/>
              </a:rPr>
              <a:t>Turning the model into a race simulator</a:t>
            </a:r>
          </a:p>
        </p:txBody>
      </p:sp>
      <p:sp>
        <p:nvSpPr>
          <p:cNvPr id="4" name="TextBox 3"/>
          <p:cNvSpPr txBox="1"/>
          <p:nvPr/>
        </p:nvSpPr>
        <p:spPr>
          <a:xfrm>
            <a:off x="548640" y="6382512"/>
            <a:ext cx="5486400" cy="237744"/>
          </a:xfrm>
          <a:prstGeom prst="rect">
            <a:avLst/>
          </a:prstGeom>
          <a:noFill/>
        </p:spPr>
        <p:txBody>
          <a:bodyPr wrap="square" lIns="0" rIns="0" tIns="0" bIns="0" anchor="t">
            <a:spAutoFit/>
          </a:bodyPr>
          <a:lstStyle/>
          <a:p>
            <a:pPr algn="l"/>
            <a:r>
              <a:rPr sz="1000" b="0" i="0">
                <a:solidFill>
                  <a:srgbClr val="5B6168"/>
                </a:solidFill>
                <a:latin typeface="Calibri"/>
              </a:rPr>
              <a:t>F1 Race Strategy Simulator</a:t>
            </a:r>
          </a:p>
        </p:txBody>
      </p:sp>
      <p:sp>
        <p:nvSpPr>
          <p:cNvPr id="5" name="TextBox 4"/>
          <p:cNvSpPr txBox="1"/>
          <p:nvPr/>
        </p:nvSpPr>
        <p:spPr>
          <a:xfrm>
            <a:off x="10725912" y="6382512"/>
            <a:ext cx="914400" cy="237744"/>
          </a:xfrm>
          <a:prstGeom prst="rect">
            <a:avLst/>
          </a:prstGeom>
          <a:noFill/>
        </p:spPr>
        <p:txBody>
          <a:bodyPr wrap="square" lIns="0" rIns="0" tIns="0" bIns="0" anchor="t">
            <a:spAutoFit/>
          </a:bodyPr>
          <a:lstStyle/>
          <a:p>
            <a:pPr algn="r"/>
            <a:r>
              <a:rPr sz="1000" b="0" i="0">
                <a:solidFill>
                  <a:srgbClr val="5B6168"/>
                </a:solidFill>
                <a:latin typeface="Calibri"/>
              </a:rPr>
              <a:t>7</a:t>
            </a:r>
          </a:p>
        </p:txBody>
      </p:sp>
      <p:sp>
        <p:nvSpPr>
          <p:cNvPr id="6" name="Rounded Rectangle 5"/>
          <p:cNvSpPr/>
          <p:nvPr/>
        </p:nvSpPr>
        <p:spPr>
          <a:xfrm>
            <a:off x="548640" y="1783080"/>
            <a:ext cx="2066543" cy="2240280"/>
          </a:xfrm>
          <a:prstGeom prst="roundRect">
            <a:avLst>
              <a:gd name="adj" fmla="val 5714"/>
            </a:avLst>
          </a:prstGeom>
          <a:solidFill>
            <a:srgbClr val="F2F3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49808" y="1984248"/>
            <a:ext cx="420624" cy="420624"/>
          </a:xfrm>
          <a:prstGeom prst="ellipse">
            <a:avLst/>
          </a:prstGeom>
          <a:solidFill>
            <a:srgbClr val="E1060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500" b="1">
                <a:solidFill>
                  <a:srgbClr val="FFFFFF"/>
                </a:solidFill>
                <a:latin typeface="Arial"/>
              </a:rPr>
              <a:t>1</a:t>
            </a:r>
          </a:p>
        </p:txBody>
      </p:sp>
      <p:sp>
        <p:nvSpPr>
          <p:cNvPr id="8" name="TextBox 7"/>
          <p:cNvSpPr txBox="1"/>
          <p:nvPr/>
        </p:nvSpPr>
        <p:spPr>
          <a:xfrm>
            <a:off x="749808" y="2560320"/>
            <a:ext cx="1691640" cy="320040"/>
          </a:xfrm>
          <a:prstGeom prst="rect">
            <a:avLst/>
          </a:prstGeom>
          <a:noFill/>
        </p:spPr>
        <p:txBody>
          <a:bodyPr wrap="square" lIns="0" rIns="0" tIns="0" bIns="0" anchor="t">
            <a:spAutoFit/>
          </a:bodyPr>
          <a:lstStyle/>
          <a:p>
            <a:pPr algn="l"/>
            <a:r>
              <a:rPr sz="1600" b="1" i="0">
                <a:solidFill>
                  <a:srgbClr val="14171A"/>
                </a:solidFill>
                <a:latin typeface="Arial"/>
              </a:rPr>
              <a:t>Tyre plan</a:t>
            </a:r>
          </a:p>
        </p:txBody>
      </p:sp>
      <p:sp>
        <p:nvSpPr>
          <p:cNvPr id="9" name="TextBox 8"/>
          <p:cNvSpPr txBox="1"/>
          <p:nvPr/>
        </p:nvSpPr>
        <p:spPr>
          <a:xfrm>
            <a:off x="749808" y="2944368"/>
            <a:ext cx="1691640" cy="1005840"/>
          </a:xfrm>
          <a:prstGeom prst="rect">
            <a:avLst/>
          </a:prstGeom>
          <a:noFill/>
        </p:spPr>
        <p:txBody>
          <a:bodyPr wrap="square" lIns="0" rIns="0" tIns="0" bIns="0" anchor="t">
            <a:spAutoFit/>
          </a:bodyPr>
          <a:lstStyle/>
          <a:p>
            <a:pPr algn="l"/>
            <a:r>
              <a:rPr sz="1400" b="0" i="0">
                <a:solidFill>
                  <a:srgbClr val="5B6168"/>
                </a:solidFill>
                <a:latin typeface="Calibri"/>
              </a:rPr>
              <a:t>Compound and tyre age for every lap of a strategy</a:t>
            </a:r>
          </a:p>
        </p:txBody>
      </p:sp>
      <p:sp>
        <p:nvSpPr>
          <p:cNvPr id="10" name="Rounded Rectangle 9"/>
          <p:cNvSpPr/>
          <p:nvPr/>
        </p:nvSpPr>
        <p:spPr>
          <a:xfrm>
            <a:off x="2798064" y="1783080"/>
            <a:ext cx="2066543" cy="2240280"/>
          </a:xfrm>
          <a:prstGeom prst="roundRect">
            <a:avLst>
              <a:gd name="adj" fmla="val 5714"/>
            </a:avLst>
          </a:prstGeom>
          <a:solidFill>
            <a:srgbClr val="F2F3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2999232" y="1984248"/>
            <a:ext cx="420624" cy="420624"/>
          </a:xfrm>
          <a:prstGeom prst="ellipse">
            <a:avLst/>
          </a:prstGeom>
          <a:solidFill>
            <a:srgbClr val="E1060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500" b="1">
                <a:solidFill>
                  <a:srgbClr val="FFFFFF"/>
                </a:solidFill>
                <a:latin typeface="Arial"/>
              </a:rPr>
              <a:t>2</a:t>
            </a:r>
          </a:p>
        </p:txBody>
      </p:sp>
      <p:sp>
        <p:nvSpPr>
          <p:cNvPr id="12" name="TextBox 11"/>
          <p:cNvSpPr txBox="1"/>
          <p:nvPr/>
        </p:nvSpPr>
        <p:spPr>
          <a:xfrm>
            <a:off x="2999232" y="2560320"/>
            <a:ext cx="1691640" cy="320040"/>
          </a:xfrm>
          <a:prstGeom prst="rect">
            <a:avLst/>
          </a:prstGeom>
          <a:noFill/>
        </p:spPr>
        <p:txBody>
          <a:bodyPr wrap="square" lIns="0" rIns="0" tIns="0" bIns="0" anchor="t">
            <a:spAutoFit/>
          </a:bodyPr>
          <a:lstStyle/>
          <a:p>
            <a:pPr algn="l"/>
            <a:r>
              <a:rPr sz="1600" b="1" i="0">
                <a:solidFill>
                  <a:srgbClr val="14171A"/>
                </a:solidFill>
                <a:latin typeface="Arial"/>
              </a:rPr>
              <a:t>Predict laps</a:t>
            </a:r>
          </a:p>
        </p:txBody>
      </p:sp>
      <p:sp>
        <p:nvSpPr>
          <p:cNvPr id="13" name="TextBox 12"/>
          <p:cNvSpPr txBox="1"/>
          <p:nvPr/>
        </p:nvSpPr>
        <p:spPr>
          <a:xfrm>
            <a:off x="2999232" y="2944368"/>
            <a:ext cx="1691640" cy="1005840"/>
          </a:xfrm>
          <a:prstGeom prst="rect">
            <a:avLst/>
          </a:prstGeom>
          <a:noFill/>
        </p:spPr>
        <p:txBody>
          <a:bodyPr wrap="square" lIns="0" rIns="0" tIns="0" bIns="0" anchor="t">
            <a:spAutoFit/>
          </a:bodyPr>
          <a:lstStyle/>
          <a:p>
            <a:pPr algn="l"/>
            <a:r>
              <a:rPr sz="1400" b="0" i="0">
                <a:solidFill>
                  <a:srgbClr val="5B6168"/>
                </a:solidFill>
                <a:latin typeface="Calibri"/>
              </a:rPr>
              <a:t>Model output scaled by the driver's baseline pace</a:t>
            </a:r>
          </a:p>
        </p:txBody>
      </p:sp>
      <p:sp>
        <p:nvSpPr>
          <p:cNvPr id="14" name="Rounded Rectangle 13"/>
          <p:cNvSpPr/>
          <p:nvPr/>
        </p:nvSpPr>
        <p:spPr>
          <a:xfrm>
            <a:off x="5047488" y="1783080"/>
            <a:ext cx="2066543" cy="2240280"/>
          </a:xfrm>
          <a:prstGeom prst="roundRect">
            <a:avLst>
              <a:gd name="adj" fmla="val 5714"/>
            </a:avLst>
          </a:prstGeom>
          <a:solidFill>
            <a:srgbClr val="F2F3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5248655" y="1984248"/>
            <a:ext cx="420624" cy="420624"/>
          </a:xfrm>
          <a:prstGeom prst="ellipse">
            <a:avLst/>
          </a:prstGeom>
          <a:solidFill>
            <a:srgbClr val="E1060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500" b="1">
                <a:solidFill>
                  <a:srgbClr val="FFFFFF"/>
                </a:solidFill>
                <a:latin typeface="Arial"/>
              </a:rPr>
              <a:t>3</a:t>
            </a:r>
          </a:p>
        </p:txBody>
      </p:sp>
      <p:sp>
        <p:nvSpPr>
          <p:cNvPr id="16" name="TextBox 15"/>
          <p:cNvSpPr txBox="1"/>
          <p:nvPr/>
        </p:nvSpPr>
        <p:spPr>
          <a:xfrm>
            <a:off x="5248655" y="2560320"/>
            <a:ext cx="1691640" cy="320040"/>
          </a:xfrm>
          <a:prstGeom prst="rect">
            <a:avLst/>
          </a:prstGeom>
          <a:noFill/>
        </p:spPr>
        <p:txBody>
          <a:bodyPr wrap="square" lIns="0" rIns="0" tIns="0" bIns="0" anchor="t">
            <a:spAutoFit/>
          </a:bodyPr>
          <a:lstStyle/>
          <a:p>
            <a:pPr algn="l"/>
            <a:r>
              <a:rPr sz="1600" b="1" i="0">
                <a:solidFill>
                  <a:srgbClr val="14171A"/>
                </a:solidFill>
                <a:latin typeface="Arial"/>
              </a:rPr>
              <a:t>Add pit loss</a:t>
            </a:r>
          </a:p>
        </p:txBody>
      </p:sp>
      <p:sp>
        <p:nvSpPr>
          <p:cNvPr id="17" name="TextBox 16"/>
          <p:cNvSpPr txBox="1"/>
          <p:nvPr/>
        </p:nvSpPr>
        <p:spPr>
          <a:xfrm>
            <a:off x="5248655" y="2944368"/>
            <a:ext cx="1691640" cy="1005840"/>
          </a:xfrm>
          <a:prstGeom prst="rect">
            <a:avLst/>
          </a:prstGeom>
          <a:noFill/>
        </p:spPr>
        <p:txBody>
          <a:bodyPr wrap="square" lIns="0" rIns="0" tIns="0" bIns="0" anchor="t">
            <a:spAutoFit/>
          </a:bodyPr>
          <a:lstStyle/>
          <a:p>
            <a:pPr algn="l"/>
            <a:r>
              <a:rPr sz="1400" b="0" i="0">
                <a:solidFill>
                  <a:srgbClr val="5B6168"/>
                </a:solidFill>
                <a:latin typeface="Calibri"/>
              </a:rPr>
              <a:t>Median green-flag loss at that circuit in past seasons</a:t>
            </a:r>
          </a:p>
        </p:txBody>
      </p:sp>
      <p:sp>
        <p:nvSpPr>
          <p:cNvPr id="18" name="Rounded Rectangle 17"/>
          <p:cNvSpPr/>
          <p:nvPr/>
        </p:nvSpPr>
        <p:spPr>
          <a:xfrm>
            <a:off x="7296912" y="1783080"/>
            <a:ext cx="2066543" cy="2240280"/>
          </a:xfrm>
          <a:prstGeom prst="roundRect">
            <a:avLst>
              <a:gd name="adj" fmla="val 5714"/>
            </a:avLst>
          </a:prstGeom>
          <a:solidFill>
            <a:srgbClr val="F2F3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7498079" y="1984248"/>
            <a:ext cx="420624" cy="420624"/>
          </a:xfrm>
          <a:prstGeom prst="ellipse">
            <a:avLst/>
          </a:prstGeom>
          <a:solidFill>
            <a:srgbClr val="E1060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500" b="1">
                <a:solidFill>
                  <a:srgbClr val="FFFFFF"/>
                </a:solidFill>
                <a:latin typeface="Arial"/>
              </a:rPr>
              <a:t>4</a:t>
            </a:r>
          </a:p>
        </p:txBody>
      </p:sp>
      <p:sp>
        <p:nvSpPr>
          <p:cNvPr id="20" name="TextBox 19"/>
          <p:cNvSpPr txBox="1"/>
          <p:nvPr/>
        </p:nvSpPr>
        <p:spPr>
          <a:xfrm>
            <a:off x="7498079" y="2560320"/>
            <a:ext cx="1691640" cy="320040"/>
          </a:xfrm>
          <a:prstGeom prst="rect">
            <a:avLst/>
          </a:prstGeom>
          <a:noFill/>
        </p:spPr>
        <p:txBody>
          <a:bodyPr wrap="square" lIns="0" rIns="0" tIns="0" bIns="0" anchor="t">
            <a:spAutoFit/>
          </a:bodyPr>
          <a:lstStyle/>
          <a:p>
            <a:pPr algn="l"/>
            <a:r>
              <a:rPr sz="1600" b="1" i="0">
                <a:solidFill>
                  <a:srgbClr val="14171A"/>
                </a:solidFill>
                <a:latin typeface="Arial"/>
              </a:rPr>
              <a:t>Search</a:t>
            </a:r>
          </a:p>
        </p:txBody>
      </p:sp>
      <p:sp>
        <p:nvSpPr>
          <p:cNvPr id="21" name="TextBox 20"/>
          <p:cNvSpPr txBox="1"/>
          <p:nvPr/>
        </p:nvSpPr>
        <p:spPr>
          <a:xfrm>
            <a:off x="7498079" y="2944368"/>
            <a:ext cx="1691640" cy="1005840"/>
          </a:xfrm>
          <a:prstGeom prst="rect">
            <a:avLst/>
          </a:prstGeom>
          <a:noFill/>
        </p:spPr>
        <p:txBody>
          <a:bodyPr wrap="square" lIns="0" rIns="0" tIns="0" bIns="0" anchor="t">
            <a:spAutoFit/>
          </a:bodyPr>
          <a:lstStyle/>
          <a:p>
            <a:pPr algn="l"/>
            <a:r>
              <a:rPr sz="1400" b="0" i="0">
                <a:solidFill>
                  <a:srgbClr val="5B6168"/>
                </a:solidFill>
                <a:latin typeface="Calibri"/>
              </a:rPr>
              <a:t>Every one-stop plan and a grid of two-stop plans</a:t>
            </a:r>
          </a:p>
        </p:txBody>
      </p:sp>
      <p:sp>
        <p:nvSpPr>
          <p:cNvPr id="22" name="Rounded Rectangle 21"/>
          <p:cNvSpPr/>
          <p:nvPr/>
        </p:nvSpPr>
        <p:spPr>
          <a:xfrm>
            <a:off x="9546336" y="1783080"/>
            <a:ext cx="2066543" cy="2240280"/>
          </a:xfrm>
          <a:prstGeom prst="roundRect">
            <a:avLst>
              <a:gd name="adj" fmla="val 5714"/>
            </a:avLst>
          </a:prstGeom>
          <a:solidFill>
            <a:srgbClr val="F2F3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9747504" y="1984248"/>
            <a:ext cx="420624" cy="420624"/>
          </a:xfrm>
          <a:prstGeom prst="ellipse">
            <a:avLst/>
          </a:prstGeom>
          <a:solidFill>
            <a:srgbClr val="E1060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500" b="1">
                <a:solidFill>
                  <a:srgbClr val="FFFFFF"/>
                </a:solidFill>
                <a:latin typeface="Arial"/>
              </a:rPr>
              <a:t>5</a:t>
            </a:r>
          </a:p>
        </p:txBody>
      </p:sp>
      <p:sp>
        <p:nvSpPr>
          <p:cNvPr id="24" name="TextBox 23"/>
          <p:cNvSpPr txBox="1"/>
          <p:nvPr/>
        </p:nvSpPr>
        <p:spPr>
          <a:xfrm>
            <a:off x="9747504" y="2560320"/>
            <a:ext cx="1691640" cy="320040"/>
          </a:xfrm>
          <a:prstGeom prst="rect">
            <a:avLst/>
          </a:prstGeom>
          <a:noFill/>
        </p:spPr>
        <p:txBody>
          <a:bodyPr wrap="square" lIns="0" rIns="0" tIns="0" bIns="0" anchor="t">
            <a:spAutoFit/>
          </a:bodyPr>
          <a:lstStyle/>
          <a:p>
            <a:pPr algn="l"/>
            <a:r>
              <a:rPr sz="1600" b="1" i="0">
                <a:solidFill>
                  <a:srgbClr val="14171A"/>
                </a:solidFill>
                <a:latin typeface="Arial"/>
              </a:rPr>
              <a:t>Uncertainty</a:t>
            </a:r>
          </a:p>
        </p:txBody>
      </p:sp>
      <p:sp>
        <p:nvSpPr>
          <p:cNvPr id="25" name="TextBox 24"/>
          <p:cNvSpPr txBox="1"/>
          <p:nvPr/>
        </p:nvSpPr>
        <p:spPr>
          <a:xfrm>
            <a:off x="9747504" y="2944368"/>
            <a:ext cx="1691640" cy="1005840"/>
          </a:xfrm>
          <a:prstGeom prst="rect">
            <a:avLst/>
          </a:prstGeom>
          <a:noFill/>
        </p:spPr>
        <p:txBody>
          <a:bodyPr wrap="square" lIns="0" rIns="0" tIns="0" bIns="0" anchor="t">
            <a:spAutoFit/>
          </a:bodyPr>
          <a:lstStyle/>
          <a:p>
            <a:pPr algn="l"/>
            <a:r>
              <a:rPr sz="1400" b="0" i="0">
                <a:solidFill>
                  <a:srgbClr val="5B6168"/>
                </a:solidFill>
                <a:latin typeface="Calibri"/>
              </a:rPr>
              <a:t>Random races drawn from stint and lap error</a:t>
            </a:r>
          </a:p>
        </p:txBody>
      </p:sp>
      <p:sp>
        <p:nvSpPr>
          <p:cNvPr id="26" name="TextBox 25"/>
          <p:cNvSpPr txBox="1"/>
          <p:nvPr/>
        </p:nvSpPr>
        <p:spPr>
          <a:xfrm>
            <a:off x="548640" y="4343400"/>
            <a:ext cx="5486400" cy="320040"/>
          </a:xfrm>
          <a:prstGeom prst="rect">
            <a:avLst/>
          </a:prstGeom>
          <a:noFill/>
        </p:spPr>
        <p:txBody>
          <a:bodyPr wrap="square" lIns="0" rIns="0" tIns="0" bIns="0" anchor="t">
            <a:spAutoFit/>
          </a:bodyPr>
          <a:lstStyle/>
          <a:p>
            <a:pPr algn="l"/>
            <a:r>
              <a:rPr sz="1600" b="1" i="0">
                <a:solidFill>
                  <a:srgbClr val="14171A"/>
                </a:solidFill>
                <a:latin typeface="Arial"/>
              </a:rPr>
              <a:t>Rules the search enforces</a:t>
            </a:r>
          </a:p>
        </p:txBody>
      </p:sp>
      <p:sp>
        <p:nvSpPr>
          <p:cNvPr id="27" name="Rounded Rectangle 26"/>
          <p:cNvSpPr/>
          <p:nvPr/>
        </p:nvSpPr>
        <p:spPr>
          <a:xfrm>
            <a:off x="548640" y="4800600"/>
            <a:ext cx="3593592" cy="1051560"/>
          </a:xfrm>
          <a:prstGeom prst="roundRect">
            <a:avLst>
              <a:gd name="adj" fmla="val 8000"/>
            </a:avLst>
          </a:prstGeom>
          <a:solidFill>
            <a:srgbClr val="1417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777240" y="4800600"/>
            <a:ext cx="3154680" cy="1051560"/>
          </a:xfrm>
          <a:prstGeom prst="rect">
            <a:avLst/>
          </a:prstGeom>
          <a:noFill/>
        </p:spPr>
        <p:txBody>
          <a:bodyPr wrap="square" lIns="0" rIns="0" tIns="0" bIns="0" anchor="ctr">
            <a:spAutoFit/>
          </a:bodyPr>
          <a:lstStyle/>
          <a:p>
            <a:pPr algn="l"/>
            <a:r>
              <a:rPr sz="1400" b="0" i="0">
                <a:solidFill>
                  <a:srgbClr val="FFFFFF"/>
                </a:solidFill>
                <a:latin typeface="Calibri"/>
              </a:rPr>
              <a:t>At least two dry compounds in the race</a:t>
            </a:r>
          </a:p>
        </p:txBody>
      </p:sp>
      <p:sp>
        <p:nvSpPr>
          <p:cNvPr id="29" name="Rounded Rectangle 28"/>
          <p:cNvSpPr/>
          <p:nvPr/>
        </p:nvSpPr>
        <p:spPr>
          <a:xfrm>
            <a:off x="4297679" y="4800600"/>
            <a:ext cx="3593592" cy="1051560"/>
          </a:xfrm>
          <a:prstGeom prst="roundRect">
            <a:avLst>
              <a:gd name="adj" fmla="val 8000"/>
            </a:avLst>
          </a:prstGeom>
          <a:solidFill>
            <a:srgbClr val="1417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4526279" y="4800600"/>
            <a:ext cx="3154680" cy="1051560"/>
          </a:xfrm>
          <a:prstGeom prst="rect">
            <a:avLst/>
          </a:prstGeom>
          <a:noFill/>
        </p:spPr>
        <p:txBody>
          <a:bodyPr wrap="square" lIns="0" rIns="0" tIns="0" bIns="0" anchor="ctr">
            <a:spAutoFit/>
          </a:bodyPr>
          <a:lstStyle/>
          <a:p>
            <a:pPr algn="l"/>
            <a:r>
              <a:rPr sz="1400" b="0" i="0">
                <a:solidFill>
                  <a:srgbClr val="FFFFFF"/>
                </a:solidFill>
                <a:latin typeface="Calibri"/>
              </a:rPr>
              <a:t>Every stint at least 5 laps long</a:t>
            </a:r>
          </a:p>
        </p:txBody>
      </p:sp>
      <p:sp>
        <p:nvSpPr>
          <p:cNvPr id="31" name="Rounded Rectangle 30"/>
          <p:cNvSpPr/>
          <p:nvPr/>
        </p:nvSpPr>
        <p:spPr>
          <a:xfrm>
            <a:off x="8046719" y="4800600"/>
            <a:ext cx="3593592" cy="1051560"/>
          </a:xfrm>
          <a:prstGeom prst="roundRect">
            <a:avLst>
              <a:gd name="adj" fmla="val 8000"/>
            </a:avLst>
          </a:prstGeom>
          <a:solidFill>
            <a:srgbClr val="1417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8275319" y="4800600"/>
            <a:ext cx="3154680" cy="1051560"/>
          </a:xfrm>
          <a:prstGeom prst="rect">
            <a:avLst/>
          </a:prstGeom>
          <a:noFill/>
        </p:spPr>
        <p:txBody>
          <a:bodyPr wrap="square" lIns="0" rIns="0" tIns="0" bIns="0" anchor="ctr">
            <a:spAutoFit/>
          </a:bodyPr>
          <a:lstStyle/>
          <a:p>
            <a:pPr algn="l"/>
            <a:r>
              <a:rPr sz="1400" b="0" i="0">
                <a:solidFill>
                  <a:srgbClr val="FFFFFF"/>
                </a:solidFill>
                <a:latin typeface="Calibri"/>
              </a:rPr>
              <a:t>No stint longer than tyres were seen to last at that circuit</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84048"/>
            <a:ext cx="8229600" cy="274320"/>
          </a:xfrm>
          <a:prstGeom prst="rect">
            <a:avLst/>
          </a:prstGeom>
          <a:noFill/>
        </p:spPr>
        <p:txBody>
          <a:bodyPr wrap="square" lIns="0" rIns="0" tIns="0" bIns="0" anchor="t">
            <a:spAutoFit/>
          </a:bodyPr>
          <a:lstStyle/>
          <a:p>
            <a:pPr algn="l"/>
            <a:r>
              <a:rPr sz="1200" b="1" i="0">
                <a:solidFill>
                  <a:srgbClr val="E10600"/>
                </a:solidFill>
                <a:latin typeface="Arial"/>
              </a:rPr>
              <a:t>BACKTEST</a:t>
            </a:r>
          </a:p>
        </p:txBody>
      </p:sp>
      <p:sp>
        <p:nvSpPr>
          <p:cNvPr id="3" name="TextBox 2"/>
          <p:cNvSpPr txBox="1"/>
          <p:nvPr/>
        </p:nvSpPr>
        <p:spPr>
          <a:xfrm>
            <a:off x="548640" y="676656"/>
            <a:ext cx="11064240" cy="685800"/>
          </a:xfrm>
          <a:prstGeom prst="rect">
            <a:avLst/>
          </a:prstGeom>
          <a:noFill/>
        </p:spPr>
        <p:txBody>
          <a:bodyPr wrap="square" lIns="0" rIns="0" tIns="0" bIns="0" anchor="ctr">
            <a:spAutoFit/>
          </a:bodyPr>
          <a:lstStyle/>
          <a:p>
            <a:pPr algn="l"/>
            <a:r>
              <a:rPr sz="3200" b="1" i="0">
                <a:solidFill>
                  <a:srgbClr val="14171A"/>
                </a:solidFill>
                <a:latin typeface="Arial"/>
              </a:rPr>
              <a:t>Checked against 182 real driver-races from 2025</a:t>
            </a:r>
          </a:p>
        </p:txBody>
      </p:sp>
      <p:sp>
        <p:nvSpPr>
          <p:cNvPr id="4" name="TextBox 3"/>
          <p:cNvSpPr txBox="1"/>
          <p:nvPr/>
        </p:nvSpPr>
        <p:spPr>
          <a:xfrm>
            <a:off x="548640" y="6382512"/>
            <a:ext cx="5486400" cy="237744"/>
          </a:xfrm>
          <a:prstGeom prst="rect">
            <a:avLst/>
          </a:prstGeom>
          <a:noFill/>
        </p:spPr>
        <p:txBody>
          <a:bodyPr wrap="square" lIns="0" rIns="0" tIns="0" bIns="0" anchor="t">
            <a:spAutoFit/>
          </a:bodyPr>
          <a:lstStyle/>
          <a:p>
            <a:pPr algn="l"/>
            <a:r>
              <a:rPr sz="1000" b="0" i="0">
                <a:solidFill>
                  <a:srgbClr val="5B6168"/>
                </a:solidFill>
                <a:latin typeface="Calibri"/>
              </a:rPr>
              <a:t>F1 Race Strategy Simulator</a:t>
            </a:r>
          </a:p>
        </p:txBody>
      </p:sp>
      <p:sp>
        <p:nvSpPr>
          <p:cNvPr id="5" name="TextBox 4"/>
          <p:cNvSpPr txBox="1"/>
          <p:nvPr/>
        </p:nvSpPr>
        <p:spPr>
          <a:xfrm>
            <a:off x="10725912" y="6382512"/>
            <a:ext cx="914400" cy="237744"/>
          </a:xfrm>
          <a:prstGeom prst="rect">
            <a:avLst/>
          </a:prstGeom>
          <a:noFill/>
        </p:spPr>
        <p:txBody>
          <a:bodyPr wrap="square" lIns="0" rIns="0" tIns="0" bIns="0" anchor="t">
            <a:spAutoFit/>
          </a:bodyPr>
          <a:lstStyle/>
          <a:p>
            <a:pPr algn="r"/>
            <a:r>
              <a:rPr sz="1000" b="0" i="0">
                <a:solidFill>
                  <a:srgbClr val="5B6168"/>
                </a:solidFill>
                <a:latin typeface="Calibri"/>
              </a:rPr>
              <a:t>8</a:t>
            </a:r>
          </a:p>
        </p:txBody>
      </p:sp>
      <p:graphicFrame>
        <p:nvGraphicFramePr>
          <p:cNvPr id="6" name="Chart 5"/>
          <p:cNvGraphicFramePr>
            <a:graphicFrameLocks noGrp="1"/>
          </p:cNvGraphicFramePr>
          <p:nvPr/>
        </p:nvGraphicFramePr>
        <p:xfrm>
          <a:off x="548640" y="2148840"/>
          <a:ext cx="3291840" cy="3200400"/>
        </p:xfrm>
        <a:graphic>
          <a:graphicData uri="http://schemas.openxmlformats.org/drawingml/2006/chart">
            <c:chart xmlns:c="http://schemas.openxmlformats.org/drawingml/2006/chart" r:id="rId3"/>
          </a:graphicData>
        </a:graphic>
      </p:graphicFrame>
      <p:sp>
        <p:nvSpPr>
          <p:cNvPr id="7" name="TextBox 6"/>
          <p:cNvSpPr txBox="1"/>
          <p:nvPr/>
        </p:nvSpPr>
        <p:spPr>
          <a:xfrm>
            <a:off x="548640" y="1737360"/>
            <a:ext cx="3291840" cy="320040"/>
          </a:xfrm>
          <a:prstGeom prst="rect">
            <a:avLst/>
          </a:prstGeom>
          <a:noFill/>
        </p:spPr>
        <p:txBody>
          <a:bodyPr wrap="square" lIns="0" rIns="0" tIns="0" bIns="0" anchor="t">
            <a:spAutoFit/>
          </a:bodyPr>
          <a:lstStyle/>
          <a:p>
            <a:pPr algn="l"/>
            <a:r>
              <a:rPr sz="1400" b="1" i="0">
                <a:solidFill>
                  <a:srgbClr val="14171A"/>
                </a:solidFill>
                <a:latin typeface="Calibri"/>
              </a:rPr>
              <a:t>Race-time error (MAE), seconds</a:t>
            </a:r>
          </a:p>
        </p:txBody>
      </p:sp>
      <p:sp>
        <p:nvSpPr>
          <p:cNvPr id="8" name="TextBox 7"/>
          <p:cNvSpPr txBox="1"/>
          <p:nvPr/>
        </p:nvSpPr>
        <p:spPr>
          <a:xfrm>
            <a:off x="548640" y="5440680"/>
            <a:ext cx="3291840" cy="411480"/>
          </a:xfrm>
          <a:prstGeom prst="rect">
            <a:avLst/>
          </a:prstGeom>
          <a:noFill/>
        </p:spPr>
        <p:txBody>
          <a:bodyPr wrap="square" lIns="0" rIns="0" tIns="0" bIns="0" anchor="t">
            <a:spAutoFit/>
          </a:bodyPr>
          <a:lstStyle/>
          <a:p>
            <a:pPr algn="l"/>
            <a:r>
              <a:rPr sz="1200" b="0" i="0">
                <a:solidFill>
                  <a:srgbClr val="5B6168"/>
                </a:solidFill>
                <a:latin typeface="Calibri"/>
              </a:rPr>
              <a:t>60 driver-races that stayed under green flags.</a:t>
            </a:r>
          </a:p>
        </p:txBody>
      </p:sp>
      <p:pic>
        <p:nvPicPr>
          <p:cNvPr id="9" name="Picture 8" descr="first_pit_lap_recommended_vs_actual.png"/>
          <p:cNvPicPr>
            <a:picLocks noChangeAspect="1"/>
          </p:cNvPicPr>
          <p:nvPr/>
        </p:nvPicPr>
        <p:blipFill>
          <a:blip r:embed="rId4"/>
          <a:stretch>
            <a:fillRect/>
          </a:stretch>
        </p:blipFill>
        <p:spPr>
          <a:xfrm>
            <a:off x="4206240" y="1737360"/>
            <a:ext cx="4069080" cy="4199945"/>
          </a:xfrm>
          <a:prstGeom prst="rect">
            <a:avLst/>
          </a:prstGeom>
        </p:spPr>
      </p:pic>
      <p:sp>
        <p:nvSpPr>
          <p:cNvPr id="10" name="Rounded Rectangle 9"/>
          <p:cNvSpPr/>
          <p:nvPr/>
        </p:nvSpPr>
        <p:spPr>
          <a:xfrm>
            <a:off x="8641080" y="1737360"/>
            <a:ext cx="2999232" cy="1243584"/>
          </a:xfrm>
          <a:prstGeom prst="roundRect">
            <a:avLst>
              <a:gd name="adj" fmla="val 8000"/>
            </a:avLst>
          </a:prstGeom>
          <a:solidFill>
            <a:srgbClr val="F2F3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869680" y="1865376"/>
            <a:ext cx="2560320" cy="548640"/>
          </a:xfrm>
          <a:prstGeom prst="rect">
            <a:avLst/>
          </a:prstGeom>
          <a:noFill/>
        </p:spPr>
        <p:txBody>
          <a:bodyPr wrap="square" lIns="0" rIns="0" tIns="0" bIns="0" anchor="ctr">
            <a:spAutoFit/>
          </a:bodyPr>
          <a:lstStyle/>
          <a:p>
            <a:pPr algn="l"/>
            <a:r>
              <a:rPr sz="2800" b="1" i="0">
                <a:solidFill>
                  <a:srgbClr val="14171A"/>
                </a:solidFill>
                <a:latin typeface="Arial"/>
              </a:rPr>
              <a:t>65%</a:t>
            </a:r>
          </a:p>
        </p:txBody>
      </p:sp>
      <p:sp>
        <p:nvSpPr>
          <p:cNvPr id="12" name="TextBox 11"/>
          <p:cNvSpPr txBox="1"/>
          <p:nvPr/>
        </p:nvSpPr>
        <p:spPr>
          <a:xfrm>
            <a:off x="8869680" y="2468880"/>
            <a:ext cx="2560320" cy="411480"/>
          </a:xfrm>
          <a:prstGeom prst="rect">
            <a:avLst/>
          </a:prstGeom>
          <a:noFill/>
        </p:spPr>
        <p:txBody>
          <a:bodyPr wrap="square" lIns="0" rIns="0" tIns="0" bIns="0" anchor="t">
            <a:spAutoFit/>
          </a:bodyPr>
          <a:lstStyle/>
          <a:p>
            <a:pPr algn="l"/>
            <a:r>
              <a:rPr sz="1400" b="0" i="0">
                <a:solidFill>
                  <a:srgbClr val="5B6168"/>
                </a:solidFill>
                <a:latin typeface="Calibri"/>
              </a:rPr>
              <a:t>same number of stops as the team</a:t>
            </a:r>
          </a:p>
        </p:txBody>
      </p:sp>
      <p:sp>
        <p:nvSpPr>
          <p:cNvPr id="13" name="Rounded Rectangle 12"/>
          <p:cNvSpPr/>
          <p:nvPr/>
        </p:nvSpPr>
        <p:spPr>
          <a:xfrm>
            <a:off x="8641080" y="3127248"/>
            <a:ext cx="2999232" cy="1243584"/>
          </a:xfrm>
          <a:prstGeom prst="roundRect">
            <a:avLst>
              <a:gd name="adj" fmla="val 8000"/>
            </a:avLst>
          </a:prstGeom>
          <a:solidFill>
            <a:srgbClr val="F2F3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869680" y="3255264"/>
            <a:ext cx="2560320" cy="548640"/>
          </a:xfrm>
          <a:prstGeom prst="rect">
            <a:avLst/>
          </a:prstGeom>
          <a:noFill/>
        </p:spPr>
        <p:txBody>
          <a:bodyPr wrap="square" lIns="0" rIns="0" tIns="0" bIns="0" anchor="ctr">
            <a:spAutoFit/>
          </a:bodyPr>
          <a:lstStyle/>
          <a:p>
            <a:pPr algn="l"/>
            <a:r>
              <a:rPr sz="2800" b="1" i="0">
                <a:solidFill>
                  <a:srgbClr val="14171A"/>
                </a:solidFill>
                <a:latin typeface="Arial"/>
              </a:rPr>
              <a:t>8.0 laps</a:t>
            </a:r>
          </a:p>
        </p:txBody>
      </p:sp>
      <p:sp>
        <p:nvSpPr>
          <p:cNvPr id="15" name="TextBox 14"/>
          <p:cNvSpPr txBox="1"/>
          <p:nvPr/>
        </p:nvSpPr>
        <p:spPr>
          <a:xfrm>
            <a:off x="8869680" y="3858768"/>
            <a:ext cx="2560320" cy="411480"/>
          </a:xfrm>
          <a:prstGeom prst="rect">
            <a:avLst/>
          </a:prstGeom>
          <a:noFill/>
        </p:spPr>
        <p:txBody>
          <a:bodyPr wrap="square" lIns="0" rIns="0" tIns="0" bIns="0" anchor="t">
            <a:spAutoFit/>
          </a:bodyPr>
          <a:lstStyle/>
          <a:p>
            <a:pPr algn="l"/>
            <a:r>
              <a:rPr sz="1400" b="0" i="0">
                <a:solidFill>
                  <a:srgbClr val="5B6168"/>
                </a:solidFill>
                <a:latin typeface="Calibri"/>
              </a:rPr>
              <a:t>average distance of the first pit lap</a:t>
            </a:r>
          </a:p>
        </p:txBody>
      </p:sp>
      <p:sp>
        <p:nvSpPr>
          <p:cNvPr id="16" name="Rounded Rectangle 15"/>
          <p:cNvSpPr/>
          <p:nvPr/>
        </p:nvSpPr>
        <p:spPr>
          <a:xfrm>
            <a:off x="8641080" y="4517136"/>
            <a:ext cx="2999232" cy="1243584"/>
          </a:xfrm>
          <a:prstGeom prst="roundRect">
            <a:avLst>
              <a:gd name="adj" fmla="val 8000"/>
            </a:avLst>
          </a:prstGeom>
          <a:solidFill>
            <a:srgbClr val="F2F3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869680" y="4645151"/>
            <a:ext cx="2560320" cy="548640"/>
          </a:xfrm>
          <a:prstGeom prst="rect">
            <a:avLst/>
          </a:prstGeom>
          <a:noFill/>
        </p:spPr>
        <p:txBody>
          <a:bodyPr wrap="square" lIns="0" rIns="0" tIns="0" bIns="0" anchor="ctr">
            <a:spAutoFit/>
          </a:bodyPr>
          <a:lstStyle/>
          <a:p>
            <a:pPr algn="l"/>
            <a:r>
              <a:rPr sz="2800" b="1" i="0">
                <a:solidFill>
                  <a:srgbClr val="14171A"/>
                </a:solidFill>
                <a:latin typeface="Arial"/>
              </a:rPr>
              <a:t>26%</a:t>
            </a:r>
          </a:p>
        </p:txBody>
      </p:sp>
      <p:sp>
        <p:nvSpPr>
          <p:cNvPr id="18" name="TextBox 17"/>
          <p:cNvSpPr txBox="1"/>
          <p:nvPr/>
        </p:nvSpPr>
        <p:spPr>
          <a:xfrm>
            <a:off x="8869680" y="5248655"/>
            <a:ext cx="2560320" cy="411480"/>
          </a:xfrm>
          <a:prstGeom prst="rect">
            <a:avLst/>
          </a:prstGeom>
          <a:noFill/>
        </p:spPr>
        <p:txBody>
          <a:bodyPr wrap="square" lIns="0" rIns="0" tIns="0" bIns="0" anchor="t">
            <a:spAutoFit/>
          </a:bodyPr>
          <a:lstStyle/>
          <a:p>
            <a:pPr algn="l"/>
            <a:r>
              <a:rPr sz="1400" b="0" i="0">
                <a:solidFill>
                  <a:srgbClr val="5B6168"/>
                </a:solidFill>
                <a:latin typeface="Calibri"/>
              </a:rPr>
              <a:t>of first pit laps within 3 laps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84048"/>
            <a:ext cx="8229600" cy="274320"/>
          </a:xfrm>
          <a:prstGeom prst="rect">
            <a:avLst/>
          </a:prstGeom>
          <a:noFill/>
        </p:spPr>
        <p:txBody>
          <a:bodyPr wrap="square" lIns="0" rIns="0" tIns="0" bIns="0" anchor="t">
            <a:spAutoFit/>
          </a:bodyPr>
          <a:lstStyle/>
          <a:p>
            <a:pPr algn="l"/>
            <a:r>
              <a:rPr sz="1200" b="1" i="0">
                <a:solidFill>
                  <a:srgbClr val="E10600"/>
                </a:solidFill>
                <a:latin typeface="Arial"/>
              </a:rPr>
              <a:t>DEMO</a:t>
            </a:r>
          </a:p>
        </p:txBody>
      </p:sp>
      <p:sp>
        <p:nvSpPr>
          <p:cNvPr id="3" name="TextBox 2"/>
          <p:cNvSpPr txBox="1"/>
          <p:nvPr/>
        </p:nvSpPr>
        <p:spPr>
          <a:xfrm>
            <a:off x="548640" y="676656"/>
            <a:ext cx="11064240" cy="685800"/>
          </a:xfrm>
          <a:prstGeom prst="rect">
            <a:avLst/>
          </a:prstGeom>
          <a:noFill/>
        </p:spPr>
        <p:txBody>
          <a:bodyPr wrap="square" lIns="0" rIns="0" tIns="0" bIns="0" anchor="ctr">
            <a:spAutoFit/>
          </a:bodyPr>
          <a:lstStyle/>
          <a:p>
            <a:pPr algn="l"/>
            <a:r>
              <a:rPr sz="3200" b="1" i="0">
                <a:solidFill>
                  <a:srgbClr val="14171A"/>
                </a:solidFill>
                <a:latin typeface="Arial"/>
              </a:rPr>
              <a:t>The simulator as an animated race</a:t>
            </a:r>
          </a:p>
        </p:txBody>
      </p:sp>
      <p:sp>
        <p:nvSpPr>
          <p:cNvPr id="4" name="TextBox 3"/>
          <p:cNvSpPr txBox="1"/>
          <p:nvPr/>
        </p:nvSpPr>
        <p:spPr>
          <a:xfrm>
            <a:off x="548640" y="6382512"/>
            <a:ext cx="5486400" cy="237744"/>
          </a:xfrm>
          <a:prstGeom prst="rect">
            <a:avLst/>
          </a:prstGeom>
          <a:noFill/>
        </p:spPr>
        <p:txBody>
          <a:bodyPr wrap="square" lIns="0" rIns="0" tIns="0" bIns="0" anchor="t">
            <a:spAutoFit/>
          </a:bodyPr>
          <a:lstStyle/>
          <a:p>
            <a:pPr algn="l"/>
            <a:r>
              <a:rPr sz="1000" b="0" i="0">
                <a:solidFill>
                  <a:srgbClr val="5B6168"/>
                </a:solidFill>
                <a:latin typeface="Calibri"/>
              </a:rPr>
              <a:t>F1 Race Strategy Simulator</a:t>
            </a:r>
          </a:p>
        </p:txBody>
      </p:sp>
      <p:sp>
        <p:nvSpPr>
          <p:cNvPr id="5" name="TextBox 4"/>
          <p:cNvSpPr txBox="1"/>
          <p:nvPr/>
        </p:nvSpPr>
        <p:spPr>
          <a:xfrm>
            <a:off x="10725912" y="6382512"/>
            <a:ext cx="914400" cy="237744"/>
          </a:xfrm>
          <a:prstGeom prst="rect">
            <a:avLst/>
          </a:prstGeom>
          <a:noFill/>
        </p:spPr>
        <p:txBody>
          <a:bodyPr wrap="square" lIns="0" rIns="0" tIns="0" bIns="0" anchor="t">
            <a:spAutoFit/>
          </a:bodyPr>
          <a:lstStyle/>
          <a:p>
            <a:pPr algn="r"/>
            <a:r>
              <a:rPr sz="1000" b="0" i="0">
                <a:solidFill>
                  <a:srgbClr val="5B6168"/>
                </a:solidFill>
                <a:latin typeface="Calibri"/>
              </a:rPr>
              <a:t>9</a:t>
            </a:r>
          </a:p>
        </p:txBody>
      </p:sp>
      <p:pic>
        <p:nvPicPr>
          <p:cNvPr id="6" name="Picture 5" descr="race_view.png"/>
          <p:cNvPicPr>
            <a:picLocks noChangeAspect="1"/>
          </p:cNvPicPr>
          <p:nvPr/>
        </p:nvPicPr>
        <p:blipFill>
          <a:blip r:embed="rId3"/>
          <a:stretch>
            <a:fillRect/>
          </a:stretch>
        </p:blipFill>
        <p:spPr>
          <a:xfrm>
            <a:off x="548640" y="1737360"/>
            <a:ext cx="7315200" cy="4091553"/>
          </a:xfrm>
          <a:prstGeom prst="rect">
            <a:avLst/>
          </a:prstGeom>
        </p:spPr>
      </p:pic>
      <p:sp>
        <p:nvSpPr>
          <p:cNvPr id="7" name="Oval 6"/>
          <p:cNvSpPr/>
          <p:nvPr/>
        </p:nvSpPr>
        <p:spPr>
          <a:xfrm>
            <a:off x="8183879" y="1755648"/>
            <a:ext cx="384048" cy="384048"/>
          </a:xfrm>
          <a:prstGeom prst="ellipse">
            <a:avLst/>
          </a:prstGeom>
          <a:solidFill>
            <a:srgbClr val="E1060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500" b="1">
                <a:solidFill>
                  <a:srgbClr val="FFFFFF"/>
                </a:solidFill>
                <a:latin typeface="Arial"/>
              </a:rPr>
              <a:t>1</a:t>
            </a:r>
          </a:p>
        </p:txBody>
      </p:sp>
      <p:sp>
        <p:nvSpPr>
          <p:cNvPr id="8" name="TextBox 7"/>
          <p:cNvSpPr txBox="1"/>
          <p:nvPr/>
        </p:nvSpPr>
        <p:spPr>
          <a:xfrm>
            <a:off x="8732520" y="1737360"/>
            <a:ext cx="2926080" cy="292608"/>
          </a:xfrm>
          <a:prstGeom prst="rect">
            <a:avLst/>
          </a:prstGeom>
          <a:noFill/>
        </p:spPr>
        <p:txBody>
          <a:bodyPr wrap="square" lIns="0" rIns="0" tIns="0" bIns="0" anchor="t">
            <a:spAutoFit/>
          </a:bodyPr>
          <a:lstStyle/>
          <a:p>
            <a:pPr algn="l"/>
            <a:r>
              <a:rPr sz="1500" b="1" i="0">
                <a:solidFill>
                  <a:srgbClr val="14171A"/>
                </a:solidFill>
                <a:latin typeface="Arial"/>
              </a:rPr>
              <a:t>Three strategies race</a:t>
            </a:r>
          </a:p>
        </p:txBody>
      </p:sp>
      <p:sp>
        <p:nvSpPr>
          <p:cNvPr id="9" name="TextBox 8"/>
          <p:cNvSpPr txBox="1"/>
          <p:nvPr/>
        </p:nvSpPr>
        <p:spPr>
          <a:xfrm>
            <a:off x="8732520" y="2066543"/>
            <a:ext cx="2926080" cy="566928"/>
          </a:xfrm>
          <a:prstGeom prst="rect">
            <a:avLst/>
          </a:prstGeom>
          <a:noFill/>
        </p:spPr>
        <p:txBody>
          <a:bodyPr wrap="square" lIns="0" rIns="0" tIns="0" bIns="0" anchor="t">
            <a:spAutoFit/>
          </a:bodyPr>
          <a:lstStyle/>
          <a:p>
            <a:pPr algn="l"/>
            <a:r>
              <a:rPr sz="1400" b="0" i="0">
                <a:solidFill>
                  <a:srgbClr val="5B6168"/>
                </a:solidFill>
                <a:latin typeface="Calibri"/>
              </a:rPr>
              <a:t>Recommended, the team's real one, and your own</a:t>
            </a:r>
          </a:p>
        </p:txBody>
      </p:sp>
      <p:sp>
        <p:nvSpPr>
          <p:cNvPr id="10" name="Oval 9"/>
          <p:cNvSpPr/>
          <p:nvPr/>
        </p:nvSpPr>
        <p:spPr>
          <a:xfrm>
            <a:off x="8183879" y="2788920"/>
            <a:ext cx="384048" cy="384048"/>
          </a:xfrm>
          <a:prstGeom prst="ellipse">
            <a:avLst/>
          </a:prstGeom>
          <a:solidFill>
            <a:srgbClr val="E1060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500" b="1">
                <a:solidFill>
                  <a:srgbClr val="FFFFFF"/>
                </a:solidFill>
                <a:latin typeface="Arial"/>
              </a:rPr>
              <a:t>2</a:t>
            </a:r>
          </a:p>
        </p:txBody>
      </p:sp>
      <p:sp>
        <p:nvSpPr>
          <p:cNvPr id="11" name="TextBox 10"/>
          <p:cNvSpPr txBox="1"/>
          <p:nvPr/>
        </p:nvSpPr>
        <p:spPr>
          <a:xfrm>
            <a:off x="8732520" y="2770632"/>
            <a:ext cx="2926080" cy="292608"/>
          </a:xfrm>
          <a:prstGeom prst="rect">
            <a:avLst/>
          </a:prstGeom>
          <a:noFill/>
        </p:spPr>
        <p:txBody>
          <a:bodyPr wrap="square" lIns="0" rIns="0" tIns="0" bIns="0" anchor="t">
            <a:spAutoFit/>
          </a:bodyPr>
          <a:lstStyle/>
          <a:p>
            <a:pPr algn="l"/>
            <a:r>
              <a:rPr sz="1500" b="1" i="0">
                <a:solidFill>
                  <a:srgbClr val="14171A"/>
                </a:solidFill>
                <a:latin typeface="Arial"/>
              </a:rPr>
              <a:t>Tyres and stops are visible</a:t>
            </a:r>
          </a:p>
        </p:txBody>
      </p:sp>
      <p:sp>
        <p:nvSpPr>
          <p:cNvPr id="12" name="TextBox 11"/>
          <p:cNvSpPr txBox="1"/>
          <p:nvPr/>
        </p:nvSpPr>
        <p:spPr>
          <a:xfrm>
            <a:off x="8732520" y="3099815"/>
            <a:ext cx="2926080" cy="566928"/>
          </a:xfrm>
          <a:prstGeom prst="rect">
            <a:avLst/>
          </a:prstGeom>
          <a:noFill/>
        </p:spPr>
        <p:txBody>
          <a:bodyPr wrap="square" lIns="0" rIns="0" tIns="0" bIns="0" anchor="t">
            <a:spAutoFit/>
          </a:bodyPr>
          <a:lstStyle/>
          <a:p>
            <a:pPr algn="l"/>
            <a:r>
              <a:rPr sz="1400" b="0" i="0">
                <a:solidFill>
                  <a:srgbClr val="5B6168"/>
                </a:solidFill>
                <a:latin typeface="Calibri"/>
              </a:rPr>
              <a:t>Wheel colour is the compound; cars use the pit box</a:t>
            </a:r>
          </a:p>
        </p:txBody>
      </p:sp>
      <p:sp>
        <p:nvSpPr>
          <p:cNvPr id="13" name="Oval 12"/>
          <p:cNvSpPr/>
          <p:nvPr/>
        </p:nvSpPr>
        <p:spPr>
          <a:xfrm>
            <a:off x="8183879" y="3822191"/>
            <a:ext cx="384048" cy="384048"/>
          </a:xfrm>
          <a:prstGeom prst="ellipse">
            <a:avLst/>
          </a:prstGeom>
          <a:solidFill>
            <a:srgbClr val="E1060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500" b="1">
                <a:solidFill>
                  <a:srgbClr val="FFFFFF"/>
                </a:solidFill>
                <a:latin typeface="Arial"/>
              </a:rPr>
              <a:t>3</a:t>
            </a:r>
          </a:p>
        </p:txBody>
      </p:sp>
      <p:sp>
        <p:nvSpPr>
          <p:cNvPr id="14" name="TextBox 13"/>
          <p:cNvSpPr txBox="1"/>
          <p:nvPr/>
        </p:nvSpPr>
        <p:spPr>
          <a:xfrm>
            <a:off x="8732520" y="3803904"/>
            <a:ext cx="2926080" cy="292608"/>
          </a:xfrm>
          <a:prstGeom prst="rect">
            <a:avLst/>
          </a:prstGeom>
          <a:noFill/>
        </p:spPr>
        <p:txBody>
          <a:bodyPr wrap="square" lIns="0" rIns="0" tIns="0" bIns="0" anchor="t">
            <a:spAutoFit/>
          </a:bodyPr>
          <a:lstStyle/>
          <a:p>
            <a:pPr algn="l"/>
            <a:r>
              <a:rPr sz="1500" b="1" i="0">
                <a:solidFill>
                  <a:srgbClr val="14171A"/>
                </a:solidFill>
                <a:latin typeface="Arial"/>
              </a:rPr>
              <a:t>Live running order</a:t>
            </a:r>
          </a:p>
        </p:txBody>
      </p:sp>
      <p:sp>
        <p:nvSpPr>
          <p:cNvPr id="15" name="TextBox 14"/>
          <p:cNvSpPr txBox="1"/>
          <p:nvPr/>
        </p:nvSpPr>
        <p:spPr>
          <a:xfrm>
            <a:off x="8732520" y="4133088"/>
            <a:ext cx="2926080" cy="566928"/>
          </a:xfrm>
          <a:prstGeom prst="rect">
            <a:avLst/>
          </a:prstGeom>
          <a:noFill/>
        </p:spPr>
        <p:txBody>
          <a:bodyPr wrap="square" lIns="0" rIns="0" tIns="0" bIns="0" anchor="t">
            <a:spAutoFit/>
          </a:bodyPr>
          <a:lstStyle/>
          <a:p>
            <a:pPr algn="l"/>
            <a:r>
              <a:rPr sz="1400" b="0" i="0">
                <a:solidFill>
                  <a:srgbClr val="5B6168"/>
                </a:solidFill>
                <a:latin typeface="Calibri"/>
              </a:rPr>
              <a:t>Gaps, tyre age and a lead chart, lap by lap</a:t>
            </a:r>
          </a:p>
        </p:txBody>
      </p:sp>
      <p:sp>
        <p:nvSpPr>
          <p:cNvPr id="16" name="Oval 15"/>
          <p:cNvSpPr/>
          <p:nvPr/>
        </p:nvSpPr>
        <p:spPr>
          <a:xfrm>
            <a:off x="8183879" y="4855463"/>
            <a:ext cx="384048" cy="384048"/>
          </a:xfrm>
          <a:prstGeom prst="ellipse">
            <a:avLst/>
          </a:prstGeom>
          <a:solidFill>
            <a:srgbClr val="E1060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500" b="1">
                <a:solidFill>
                  <a:srgbClr val="FFFFFF"/>
                </a:solidFill>
                <a:latin typeface="Arial"/>
              </a:rPr>
              <a:t>4</a:t>
            </a:r>
          </a:p>
        </p:txBody>
      </p:sp>
      <p:sp>
        <p:nvSpPr>
          <p:cNvPr id="17" name="TextBox 16"/>
          <p:cNvSpPr txBox="1"/>
          <p:nvPr/>
        </p:nvSpPr>
        <p:spPr>
          <a:xfrm>
            <a:off x="8732520" y="4837175"/>
            <a:ext cx="2926080" cy="292608"/>
          </a:xfrm>
          <a:prstGeom prst="rect">
            <a:avLst/>
          </a:prstGeom>
          <a:noFill/>
        </p:spPr>
        <p:txBody>
          <a:bodyPr wrap="square" lIns="0" rIns="0" tIns="0" bIns="0" anchor="t">
            <a:spAutoFit/>
          </a:bodyPr>
          <a:lstStyle/>
          <a:p>
            <a:pPr algn="l"/>
            <a:r>
              <a:rPr sz="1500" b="1" i="0">
                <a:solidFill>
                  <a:srgbClr val="14171A"/>
                </a:solidFill>
                <a:latin typeface="Arial"/>
              </a:rPr>
              <a:t>Random races</a:t>
            </a:r>
          </a:p>
        </p:txBody>
      </p:sp>
      <p:sp>
        <p:nvSpPr>
          <p:cNvPr id="18" name="TextBox 17"/>
          <p:cNvSpPr txBox="1"/>
          <p:nvPr/>
        </p:nvSpPr>
        <p:spPr>
          <a:xfrm>
            <a:off x="8732520" y="5166359"/>
            <a:ext cx="2926080" cy="566928"/>
          </a:xfrm>
          <a:prstGeom prst="rect">
            <a:avLst/>
          </a:prstGeom>
          <a:noFill/>
        </p:spPr>
        <p:txBody>
          <a:bodyPr wrap="square" lIns="0" rIns="0" tIns="0" bIns="0" anchor="t">
            <a:spAutoFit/>
          </a:bodyPr>
          <a:lstStyle/>
          <a:p>
            <a:pPr algn="l"/>
            <a:r>
              <a:rPr sz="1400" b="0" i="0">
                <a:solidFill>
                  <a:srgbClr val="5B6168"/>
                </a:solidFill>
                <a:latin typeface="Calibri"/>
              </a:rPr>
              <a:t>Each run draws from the model's measured error</a:t>
            </a:r>
          </a:p>
        </p:txBody>
      </p:sp>
      <p:sp>
        <p:nvSpPr>
          <p:cNvPr id="19" name="TextBox 18"/>
          <p:cNvSpPr txBox="1"/>
          <p:nvPr/>
        </p:nvSpPr>
        <p:spPr>
          <a:xfrm>
            <a:off x="548640" y="5897880"/>
            <a:ext cx="7315200" cy="320040"/>
          </a:xfrm>
          <a:prstGeom prst="rect">
            <a:avLst/>
          </a:prstGeom>
          <a:noFill/>
        </p:spPr>
        <p:txBody>
          <a:bodyPr wrap="square" lIns="0" rIns="0" tIns="0" bIns="0" anchor="t">
            <a:spAutoFit/>
          </a:bodyPr>
          <a:lstStyle/>
          <a:p>
            <a:pPr algn="l"/>
            <a:r>
              <a:rPr sz="1200" b="0" i="0">
                <a:solidFill>
                  <a:srgbClr val="5B6168"/>
                </a:solidFill>
                <a:latin typeface="Calibri"/>
              </a:rPr>
              <a:t>Circuit outlines are real. Start-line position and direction of travel are illustrative.</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84048"/>
            <a:ext cx="8229600" cy="274320"/>
          </a:xfrm>
          <a:prstGeom prst="rect">
            <a:avLst/>
          </a:prstGeom>
          <a:noFill/>
        </p:spPr>
        <p:txBody>
          <a:bodyPr wrap="square" lIns="0" rIns="0" tIns="0" bIns="0" anchor="t">
            <a:spAutoFit/>
          </a:bodyPr>
          <a:lstStyle/>
          <a:p>
            <a:pPr algn="l"/>
            <a:r>
              <a:rPr sz="1200" b="1" i="0">
                <a:solidFill>
                  <a:srgbClr val="E10600"/>
                </a:solidFill>
                <a:latin typeface="Arial"/>
              </a:rPr>
              <a:t>LIMITATIONS</a:t>
            </a:r>
          </a:p>
        </p:txBody>
      </p:sp>
      <p:sp>
        <p:nvSpPr>
          <p:cNvPr id="3" name="TextBox 2"/>
          <p:cNvSpPr txBox="1"/>
          <p:nvPr/>
        </p:nvSpPr>
        <p:spPr>
          <a:xfrm>
            <a:off x="548640" y="676656"/>
            <a:ext cx="11064240" cy="685800"/>
          </a:xfrm>
          <a:prstGeom prst="rect">
            <a:avLst/>
          </a:prstGeom>
          <a:noFill/>
        </p:spPr>
        <p:txBody>
          <a:bodyPr wrap="square" lIns="0" rIns="0" tIns="0" bIns="0" anchor="ctr">
            <a:spAutoFit/>
          </a:bodyPr>
          <a:lstStyle/>
          <a:p>
            <a:pPr algn="l"/>
            <a:r>
              <a:rPr sz="3200" b="1" i="0">
                <a:solidFill>
                  <a:srgbClr val="14171A"/>
                </a:solidFill>
                <a:latin typeface="Arial"/>
              </a:rPr>
              <a:t>Why the pit lap is hard, and what would fix it</a:t>
            </a:r>
          </a:p>
        </p:txBody>
      </p:sp>
      <p:sp>
        <p:nvSpPr>
          <p:cNvPr id="4" name="TextBox 3"/>
          <p:cNvSpPr txBox="1"/>
          <p:nvPr/>
        </p:nvSpPr>
        <p:spPr>
          <a:xfrm>
            <a:off x="548640" y="6382512"/>
            <a:ext cx="5486400" cy="237744"/>
          </a:xfrm>
          <a:prstGeom prst="rect">
            <a:avLst/>
          </a:prstGeom>
          <a:noFill/>
        </p:spPr>
        <p:txBody>
          <a:bodyPr wrap="square" lIns="0" rIns="0" tIns="0" bIns="0" anchor="t">
            <a:spAutoFit/>
          </a:bodyPr>
          <a:lstStyle/>
          <a:p>
            <a:pPr algn="l"/>
            <a:r>
              <a:rPr sz="1000" b="0" i="0">
                <a:solidFill>
                  <a:srgbClr val="5B6168"/>
                </a:solidFill>
                <a:latin typeface="Calibri"/>
              </a:rPr>
              <a:t>F1 Race Strategy Simulator</a:t>
            </a:r>
          </a:p>
        </p:txBody>
      </p:sp>
      <p:sp>
        <p:nvSpPr>
          <p:cNvPr id="5" name="TextBox 4"/>
          <p:cNvSpPr txBox="1"/>
          <p:nvPr/>
        </p:nvSpPr>
        <p:spPr>
          <a:xfrm>
            <a:off x="10725912" y="6382512"/>
            <a:ext cx="914400" cy="237744"/>
          </a:xfrm>
          <a:prstGeom prst="rect">
            <a:avLst/>
          </a:prstGeom>
          <a:noFill/>
        </p:spPr>
        <p:txBody>
          <a:bodyPr wrap="square" lIns="0" rIns="0" tIns="0" bIns="0" anchor="t">
            <a:spAutoFit/>
          </a:bodyPr>
          <a:lstStyle/>
          <a:p>
            <a:pPr algn="r"/>
            <a:r>
              <a:rPr sz="1000" b="0" i="0">
                <a:solidFill>
                  <a:srgbClr val="5B6168"/>
                </a:solidFill>
                <a:latin typeface="Calibri"/>
              </a:rPr>
              <a:t>10</a:t>
            </a:r>
          </a:p>
        </p:txBody>
      </p:sp>
      <p:sp>
        <p:nvSpPr>
          <p:cNvPr id="6" name="Rounded Rectangle 5"/>
          <p:cNvSpPr/>
          <p:nvPr/>
        </p:nvSpPr>
        <p:spPr>
          <a:xfrm>
            <a:off x="548640" y="1783080"/>
            <a:ext cx="5458968" cy="1463040"/>
          </a:xfrm>
          <a:prstGeom prst="roundRect">
            <a:avLst>
              <a:gd name="adj" fmla="val 8000"/>
            </a:avLst>
          </a:prstGeom>
          <a:solidFill>
            <a:srgbClr val="F2F3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011680"/>
            <a:ext cx="420624" cy="420624"/>
          </a:xfrm>
          <a:prstGeom prst="ellipse">
            <a:avLst/>
          </a:prstGeom>
          <a:solidFill>
            <a:srgbClr val="E1060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500" b="1">
                <a:solidFill>
                  <a:srgbClr val="FFFFFF"/>
                </a:solidFill>
                <a:latin typeface="Arial"/>
              </a:rPr>
              <a:t>1</a:t>
            </a:r>
          </a:p>
        </p:txBody>
      </p:sp>
      <p:sp>
        <p:nvSpPr>
          <p:cNvPr id="8" name="TextBox 7"/>
          <p:cNvSpPr txBox="1"/>
          <p:nvPr/>
        </p:nvSpPr>
        <p:spPr>
          <a:xfrm>
            <a:off x="1417319" y="1984248"/>
            <a:ext cx="4389120" cy="320040"/>
          </a:xfrm>
          <a:prstGeom prst="rect">
            <a:avLst/>
          </a:prstGeom>
          <a:noFill/>
        </p:spPr>
        <p:txBody>
          <a:bodyPr wrap="square" lIns="0" rIns="0" tIns="0" bIns="0" anchor="t">
            <a:spAutoFit/>
          </a:bodyPr>
          <a:lstStyle/>
          <a:p>
            <a:pPr algn="l"/>
            <a:r>
              <a:rPr sz="1600" b="1" i="0">
                <a:solidFill>
                  <a:srgbClr val="14171A"/>
                </a:solidFill>
                <a:latin typeface="Arial"/>
              </a:rPr>
              <a:t>Survivorship in tyre data</a:t>
            </a:r>
          </a:p>
        </p:txBody>
      </p:sp>
      <p:sp>
        <p:nvSpPr>
          <p:cNvPr id="9" name="TextBox 8"/>
          <p:cNvSpPr txBox="1"/>
          <p:nvPr/>
        </p:nvSpPr>
        <p:spPr>
          <a:xfrm>
            <a:off x="1417319" y="2350008"/>
            <a:ext cx="4389120" cy="822960"/>
          </a:xfrm>
          <a:prstGeom prst="rect">
            <a:avLst/>
          </a:prstGeom>
          <a:noFill/>
        </p:spPr>
        <p:txBody>
          <a:bodyPr wrap="square" lIns="0" rIns="0" tIns="0" bIns="0" anchor="t">
            <a:spAutoFit/>
          </a:bodyPr>
          <a:lstStyle/>
          <a:p>
            <a:pPr algn="l"/>
            <a:r>
              <a:rPr sz="1400" b="0" i="0">
                <a:solidFill>
                  <a:srgbClr val="5B6168"/>
                </a:solidFill>
                <a:latin typeface="Calibri"/>
              </a:rPr>
              <a:t>Long stints are only seen when the tyres lasted, so old tyres look better than they are and stops come out too late.</a:t>
            </a:r>
          </a:p>
        </p:txBody>
      </p:sp>
      <p:sp>
        <p:nvSpPr>
          <p:cNvPr id="10" name="Rounded Rectangle 9"/>
          <p:cNvSpPr/>
          <p:nvPr/>
        </p:nvSpPr>
        <p:spPr>
          <a:xfrm>
            <a:off x="6181344" y="1783080"/>
            <a:ext cx="5458968" cy="1463040"/>
          </a:xfrm>
          <a:prstGeom prst="roundRect">
            <a:avLst>
              <a:gd name="adj" fmla="val 8000"/>
            </a:avLst>
          </a:prstGeom>
          <a:solidFill>
            <a:srgbClr val="F2F3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6409944" y="2011680"/>
            <a:ext cx="420624" cy="420624"/>
          </a:xfrm>
          <a:prstGeom prst="ellipse">
            <a:avLst/>
          </a:prstGeom>
          <a:solidFill>
            <a:srgbClr val="E1060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500" b="1">
                <a:solidFill>
                  <a:srgbClr val="FFFFFF"/>
                </a:solidFill>
                <a:latin typeface="Arial"/>
              </a:rPr>
              <a:t>2</a:t>
            </a:r>
          </a:p>
        </p:txBody>
      </p:sp>
      <p:sp>
        <p:nvSpPr>
          <p:cNvPr id="12" name="TextBox 11"/>
          <p:cNvSpPr txBox="1"/>
          <p:nvPr/>
        </p:nvSpPr>
        <p:spPr>
          <a:xfrm>
            <a:off x="7050024" y="1984248"/>
            <a:ext cx="4389120" cy="320040"/>
          </a:xfrm>
          <a:prstGeom prst="rect">
            <a:avLst/>
          </a:prstGeom>
          <a:noFill/>
        </p:spPr>
        <p:txBody>
          <a:bodyPr wrap="square" lIns="0" rIns="0" tIns="0" bIns="0" anchor="t">
            <a:spAutoFit/>
          </a:bodyPr>
          <a:lstStyle/>
          <a:p>
            <a:pPr algn="l"/>
            <a:r>
              <a:rPr sz="1600" b="1" i="0">
                <a:solidFill>
                  <a:srgbClr val="14171A"/>
                </a:solidFill>
                <a:latin typeface="Arial"/>
              </a:rPr>
              <a:t>No traffic or track position</a:t>
            </a:r>
          </a:p>
        </p:txBody>
      </p:sp>
      <p:sp>
        <p:nvSpPr>
          <p:cNvPr id="13" name="TextBox 12"/>
          <p:cNvSpPr txBox="1"/>
          <p:nvPr/>
        </p:nvSpPr>
        <p:spPr>
          <a:xfrm>
            <a:off x="7050024" y="2350008"/>
            <a:ext cx="4389120" cy="822960"/>
          </a:xfrm>
          <a:prstGeom prst="rect">
            <a:avLst/>
          </a:prstGeom>
          <a:noFill/>
        </p:spPr>
        <p:txBody>
          <a:bodyPr wrap="square" lIns="0" rIns="0" tIns="0" bIns="0" anchor="t">
            <a:spAutoFit/>
          </a:bodyPr>
          <a:lstStyle/>
          <a:p>
            <a:pPr algn="l"/>
            <a:r>
              <a:rPr sz="1400" b="0" i="0">
                <a:solidFill>
                  <a:srgbClr val="5B6168"/>
                </a:solidFill>
                <a:latin typeface="Calibri"/>
              </a:rPr>
              <a:t>Teams stop early to undercut a rival or rejoin in clear air. The simulator only finds the fastest plan in clean air.</a:t>
            </a:r>
          </a:p>
        </p:txBody>
      </p:sp>
      <p:sp>
        <p:nvSpPr>
          <p:cNvPr id="14" name="Rounded Rectangle 13"/>
          <p:cNvSpPr/>
          <p:nvPr/>
        </p:nvSpPr>
        <p:spPr>
          <a:xfrm>
            <a:off x="548640" y="3410712"/>
            <a:ext cx="5458968" cy="1463040"/>
          </a:xfrm>
          <a:prstGeom prst="roundRect">
            <a:avLst>
              <a:gd name="adj" fmla="val 8000"/>
            </a:avLst>
          </a:prstGeom>
          <a:solidFill>
            <a:srgbClr val="F2F3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777240" y="3639312"/>
            <a:ext cx="420624" cy="420624"/>
          </a:xfrm>
          <a:prstGeom prst="ellipse">
            <a:avLst/>
          </a:prstGeom>
          <a:solidFill>
            <a:srgbClr val="E1060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500" b="1">
                <a:solidFill>
                  <a:srgbClr val="FFFFFF"/>
                </a:solidFill>
                <a:latin typeface="Arial"/>
              </a:rPr>
              <a:t>3</a:t>
            </a:r>
          </a:p>
        </p:txBody>
      </p:sp>
      <p:sp>
        <p:nvSpPr>
          <p:cNvPr id="16" name="TextBox 15"/>
          <p:cNvSpPr txBox="1"/>
          <p:nvPr/>
        </p:nvSpPr>
        <p:spPr>
          <a:xfrm>
            <a:off x="1417319" y="3611880"/>
            <a:ext cx="4389120" cy="320040"/>
          </a:xfrm>
          <a:prstGeom prst="rect">
            <a:avLst/>
          </a:prstGeom>
          <a:noFill/>
        </p:spPr>
        <p:txBody>
          <a:bodyPr wrap="square" lIns="0" rIns="0" tIns="0" bIns="0" anchor="t">
            <a:spAutoFit/>
          </a:bodyPr>
          <a:lstStyle/>
          <a:p>
            <a:pPr algn="l"/>
            <a:r>
              <a:rPr sz="1600" b="1" i="0">
                <a:solidFill>
                  <a:srgbClr val="14171A"/>
                </a:solidFill>
                <a:latin typeface="Arial"/>
              </a:rPr>
              <a:t>No safety cars or weather</a:t>
            </a:r>
          </a:p>
        </p:txBody>
      </p:sp>
      <p:sp>
        <p:nvSpPr>
          <p:cNvPr id="17" name="TextBox 16"/>
          <p:cNvSpPr txBox="1"/>
          <p:nvPr/>
        </p:nvSpPr>
        <p:spPr>
          <a:xfrm>
            <a:off x="1417319" y="3977639"/>
            <a:ext cx="4389120" cy="822960"/>
          </a:xfrm>
          <a:prstGeom prst="rect">
            <a:avLst/>
          </a:prstGeom>
          <a:noFill/>
        </p:spPr>
        <p:txBody>
          <a:bodyPr wrap="square" lIns="0" rIns="0" tIns="0" bIns="0" anchor="t">
            <a:spAutoFit/>
          </a:bodyPr>
          <a:lstStyle/>
          <a:p>
            <a:pPr algn="l"/>
            <a:r>
              <a:rPr sz="1400" b="0" i="0">
                <a:solidFill>
                  <a:srgbClr val="5B6168"/>
                </a:solidFill>
                <a:latin typeface="Calibri"/>
              </a:rPr>
              <a:t>These decide many real races. Race time could only be checked on races that stayed green.</a:t>
            </a:r>
          </a:p>
        </p:txBody>
      </p:sp>
      <p:sp>
        <p:nvSpPr>
          <p:cNvPr id="18" name="Rounded Rectangle 17"/>
          <p:cNvSpPr/>
          <p:nvPr/>
        </p:nvSpPr>
        <p:spPr>
          <a:xfrm>
            <a:off x="6181344" y="3410712"/>
            <a:ext cx="5458968" cy="1463040"/>
          </a:xfrm>
          <a:prstGeom prst="roundRect">
            <a:avLst>
              <a:gd name="adj" fmla="val 8000"/>
            </a:avLst>
          </a:prstGeom>
          <a:solidFill>
            <a:srgbClr val="F2F3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6409944" y="3639312"/>
            <a:ext cx="420624" cy="420624"/>
          </a:xfrm>
          <a:prstGeom prst="ellipse">
            <a:avLst/>
          </a:prstGeom>
          <a:solidFill>
            <a:srgbClr val="E1060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500" b="1">
                <a:solidFill>
                  <a:srgbClr val="FFFFFF"/>
                </a:solidFill>
                <a:latin typeface="Arial"/>
              </a:rPr>
              <a:t>4</a:t>
            </a:r>
          </a:p>
        </p:txBody>
      </p:sp>
      <p:sp>
        <p:nvSpPr>
          <p:cNvPr id="20" name="TextBox 19"/>
          <p:cNvSpPr txBox="1"/>
          <p:nvPr/>
        </p:nvSpPr>
        <p:spPr>
          <a:xfrm>
            <a:off x="7050024" y="3611880"/>
            <a:ext cx="4389120" cy="320040"/>
          </a:xfrm>
          <a:prstGeom prst="rect">
            <a:avLst/>
          </a:prstGeom>
          <a:noFill/>
        </p:spPr>
        <p:txBody>
          <a:bodyPr wrap="square" lIns="0" rIns="0" tIns="0" bIns="0" anchor="t">
            <a:spAutoFit/>
          </a:bodyPr>
          <a:lstStyle/>
          <a:p>
            <a:pPr algn="l"/>
            <a:r>
              <a:rPr sz="1600" b="1" i="0">
                <a:solidFill>
                  <a:srgbClr val="14171A"/>
                </a:solidFill>
                <a:latin typeface="Arial"/>
              </a:rPr>
              <a:t>Gains are inside the error</a:t>
            </a:r>
          </a:p>
        </p:txBody>
      </p:sp>
      <p:sp>
        <p:nvSpPr>
          <p:cNvPr id="21" name="TextBox 20"/>
          <p:cNvSpPr txBox="1"/>
          <p:nvPr/>
        </p:nvSpPr>
        <p:spPr>
          <a:xfrm>
            <a:off x="7050024" y="3977639"/>
            <a:ext cx="4389120" cy="822960"/>
          </a:xfrm>
          <a:prstGeom prst="rect">
            <a:avLst/>
          </a:prstGeom>
          <a:noFill/>
        </p:spPr>
        <p:txBody>
          <a:bodyPr wrap="square" lIns="0" rIns="0" tIns="0" bIns="0" anchor="t">
            <a:spAutoFit/>
          </a:bodyPr>
          <a:lstStyle/>
          <a:p>
            <a:pPr algn="l"/>
            <a:r>
              <a:rPr sz="1400" b="0" i="0">
                <a:solidFill>
                  <a:srgbClr val="5B6168"/>
                </a:solidFill>
                <a:latin typeface="Calibri"/>
              </a:rPr>
              <a:t>Good strategies differ by about 2 s; stint-level error alone is larger. The team's choice is a reference, not proven best.</a:t>
            </a:r>
          </a:p>
        </p:txBody>
      </p:sp>
      <p:sp>
        <p:nvSpPr>
          <p:cNvPr id="22" name="Rounded Rectangle 21"/>
          <p:cNvSpPr/>
          <p:nvPr/>
        </p:nvSpPr>
        <p:spPr>
          <a:xfrm>
            <a:off x="548640" y="5120640"/>
            <a:ext cx="11091672" cy="822960"/>
          </a:xfrm>
          <a:prstGeom prst="roundRect">
            <a:avLst>
              <a:gd name="adj" fmla="val 8000"/>
            </a:avLst>
          </a:prstGeom>
          <a:solidFill>
            <a:srgbClr val="1417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868680" y="5120640"/>
            <a:ext cx="10424160" cy="822960"/>
          </a:xfrm>
          <a:prstGeom prst="rect">
            <a:avLst/>
          </a:prstGeom>
          <a:noFill/>
        </p:spPr>
        <p:txBody>
          <a:bodyPr wrap="square" lIns="0" rIns="0" tIns="0" bIns="0" anchor="ctr">
            <a:spAutoFit/>
          </a:bodyPr>
          <a:lstStyle/>
          <a:p>
            <a:pPr algn="l"/>
            <a:r>
              <a:rPr sz="1600" b="0" i="0">
                <a:solidFill>
                  <a:srgbClr val="FFFFFF"/>
                </a:solidFill>
                <a:latin typeface="Calibri"/>
              </a:rPr>
              <a:t>Next: add safety-car scenarios, separate the three compounds better, and model traffic.</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14171A"/>
        </a:solidFill>
        <a:effectLst/>
      </p:bgPr>
    </p:bg>
    <p:spTree>
      <p:nvGrpSpPr>
        <p:cNvPr id="1" name=""/>
        <p:cNvGrpSpPr/>
        <p:nvPr/>
      </p:nvGrpSpPr>
      <p:grpSpPr/>
      <p:sp>
        <p:nvSpPr>
          <p:cNvPr id="2" name="TextBox 1"/>
          <p:cNvSpPr txBox="1"/>
          <p:nvPr/>
        </p:nvSpPr>
        <p:spPr>
          <a:xfrm>
            <a:off x="822960" y="1371600"/>
            <a:ext cx="5486400" cy="274320"/>
          </a:xfrm>
          <a:prstGeom prst="rect">
            <a:avLst/>
          </a:prstGeom>
          <a:noFill/>
        </p:spPr>
        <p:txBody>
          <a:bodyPr wrap="square" lIns="0" rIns="0" tIns="0" bIns="0" anchor="t">
            <a:spAutoFit/>
          </a:bodyPr>
          <a:lstStyle/>
          <a:p>
            <a:pPr algn="l"/>
            <a:r>
              <a:rPr sz="1200" b="1" i="0">
                <a:solidFill>
                  <a:srgbClr val="E10600"/>
                </a:solidFill>
                <a:latin typeface="Arial"/>
              </a:rPr>
              <a:t>CONCLUSION</a:t>
            </a:r>
          </a:p>
        </p:txBody>
      </p:sp>
      <p:sp>
        <p:nvSpPr>
          <p:cNvPr id="3" name="TextBox 2"/>
          <p:cNvSpPr txBox="1"/>
          <p:nvPr/>
        </p:nvSpPr>
        <p:spPr>
          <a:xfrm>
            <a:off x="822960" y="1783080"/>
            <a:ext cx="10515600" cy="1097280"/>
          </a:xfrm>
          <a:prstGeom prst="rect">
            <a:avLst/>
          </a:prstGeom>
          <a:noFill/>
        </p:spPr>
        <p:txBody>
          <a:bodyPr wrap="square" lIns="0" rIns="0" tIns="0" bIns="0" anchor="t">
            <a:spAutoFit/>
          </a:bodyPr>
          <a:lstStyle/>
          <a:p>
            <a:pPr algn="l"/>
            <a:r>
              <a:rPr sz="4200" b="1" i="0">
                <a:solidFill>
                  <a:srgbClr val="FFFFFF"/>
                </a:solidFill>
                <a:latin typeface="Arial"/>
              </a:rPr>
              <a:t>An accurate model is not yet a decision</a:t>
            </a:r>
          </a:p>
        </p:txBody>
      </p:sp>
      <p:sp>
        <p:nvSpPr>
          <p:cNvPr id="4" name="TextBox 3"/>
          <p:cNvSpPr txBox="1"/>
          <p:nvPr/>
        </p:nvSpPr>
        <p:spPr>
          <a:xfrm>
            <a:off x="822960" y="3154680"/>
            <a:ext cx="8778240" cy="2011680"/>
          </a:xfrm>
          <a:prstGeom prst="rect">
            <a:avLst/>
          </a:prstGeom>
          <a:noFill/>
        </p:spPr>
        <p:txBody>
          <a:bodyPr wrap="square" lIns="0" rIns="0" tIns="0" bIns="0" anchor="t">
            <a:spAutoFit/>
          </a:bodyPr>
          <a:lstStyle/>
          <a:p>
            <a:pPr algn="l"/>
            <a:r>
              <a:rPr sz="1900" b="0" i="0">
                <a:solidFill>
                  <a:srgbClr val="C9CDD2"/>
                </a:solidFill>
                <a:latin typeface="Calibri"/>
              </a:rPr>
              <a:t>Lap time: 0.83 s error on an unseen season, about half the error of constant pace.</a:t>
            </a:r>
          </a:p>
          <a:p>
            <a:pPr algn="l">
              <a:spcBef>
                <a:spcPts val="1200"/>
              </a:spcBef>
            </a:pPr>
            <a:r>
              <a:rPr sz="1900" b="0" i="0">
                <a:solidFill>
                  <a:srgbClr val="C9CDD2"/>
                </a:solidFill>
                <a:latin typeface="Calibri"/>
              </a:rPr>
              <a:t>Race time: within 0.57% for the strategy really used.</a:t>
            </a:r>
          </a:p>
          <a:p>
            <a:pPr algn="l">
              <a:spcBef>
                <a:spcPts val="1200"/>
              </a:spcBef>
            </a:pPr>
            <a:r>
              <a:rPr sz="1900" b="0" i="0">
                <a:solidFill>
                  <a:srgbClr val="C9CDD2"/>
                </a:solidFill>
                <a:latin typeface="Calibri"/>
              </a:rPr>
              <a:t>Pit lap: the choice the simulator exists for turns on differences of about 2 seconds, which the model cannot resolve.</a:t>
            </a:r>
          </a:p>
        </p:txBody>
      </p:sp>
      <p:sp>
        <p:nvSpPr>
          <p:cNvPr id="5" name="TextBox 4"/>
          <p:cNvSpPr txBox="1"/>
          <p:nvPr/>
        </p:nvSpPr>
        <p:spPr>
          <a:xfrm>
            <a:off x="822960" y="5349240"/>
            <a:ext cx="10058400" cy="457200"/>
          </a:xfrm>
          <a:prstGeom prst="rect">
            <a:avLst/>
          </a:prstGeom>
          <a:noFill/>
        </p:spPr>
        <p:txBody>
          <a:bodyPr wrap="square" lIns="0" rIns="0" tIns="0" bIns="0" anchor="t">
            <a:spAutoFit/>
          </a:bodyPr>
          <a:lstStyle/>
          <a:p>
            <a:pPr algn="l"/>
            <a:r>
              <a:rPr sz="2000" b="1" i="0">
                <a:solidFill>
                  <a:srgbClr val="FFFFFF"/>
                </a:solidFill>
                <a:latin typeface="Arial"/>
              </a:rPr>
              <a:t>Validate a model at the level of the decision it will be used for.</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